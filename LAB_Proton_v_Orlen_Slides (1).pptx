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Heading Now 71-78"/>
      <p:regular r:id="rId14"/>
    </p:embeddedFont>
    <p:embeddedFont>
      <p:font typeface="Heading Now 71-78 Bold" pitchFamily="2" charset="0"/>
      <p:regular r:id="rId15"/>
      <p:bold r:id="rId16"/>
    </p:embeddedFont>
    <p:embeddedFont>
      <p:font typeface="Poppins Medium" panose="00000600000000000000"/>
      <p:regular r:id="rId17"/>
    </p:embeddedFont>
    <p:embeddedFont>
      <p:font typeface="TT Firs Neue" panose="02000503030000020004"/>
      <p:regular r:id="rId18"/>
    </p:embeddedFont>
    <p:embeddedFont>
      <p:font typeface="TT Firs Neue Bold" panose="02000803030000020004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2" autoAdjust="0"/>
  </p:normalViewPr>
  <p:slideViewPr>
    <p:cSldViewPr>
      <p:cViewPr varScale="1">
        <p:scale>
          <a:sx n="75" d="100"/>
          <a:sy n="75" d="100"/>
        </p:scale>
        <p:origin x="54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4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46463" y="1243649"/>
            <a:ext cx="1862896" cy="7500103"/>
            <a:chOff x="0" y="0"/>
            <a:chExt cx="490639" cy="19753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639" cy="1975336"/>
            </a:xfrm>
            <a:custGeom>
              <a:avLst/>
              <a:gdLst/>
              <a:ahLst/>
              <a:cxnLst/>
              <a:rect l="l" t="t" r="r" b="b"/>
              <a:pathLst>
                <a:path w="490639" h="1975336">
                  <a:moveTo>
                    <a:pt x="153766" y="0"/>
                  </a:moveTo>
                  <a:lnTo>
                    <a:pt x="336873" y="0"/>
                  </a:lnTo>
                  <a:cubicBezTo>
                    <a:pt x="377654" y="0"/>
                    <a:pt x="416765" y="16200"/>
                    <a:pt x="445602" y="45037"/>
                  </a:cubicBezTo>
                  <a:cubicBezTo>
                    <a:pt x="474439" y="73874"/>
                    <a:pt x="490639" y="112985"/>
                    <a:pt x="490639" y="153766"/>
                  </a:cubicBezTo>
                  <a:lnTo>
                    <a:pt x="490639" y="1821569"/>
                  </a:lnTo>
                  <a:cubicBezTo>
                    <a:pt x="490639" y="1906492"/>
                    <a:pt x="421796" y="1975336"/>
                    <a:pt x="336873" y="1975336"/>
                  </a:cubicBezTo>
                  <a:lnTo>
                    <a:pt x="153766" y="1975336"/>
                  </a:lnTo>
                  <a:cubicBezTo>
                    <a:pt x="68844" y="1975336"/>
                    <a:pt x="0" y="1906492"/>
                    <a:pt x="0" y="1821569"/>
                  </a:cubicBezTo>
                  <a:lnTo>
                    <a:pt x="0" y="153766"/>
                  </a:lnTo>
                  <a:cubicBezTo>
                    <a:pt x="0" y="68844"/>
                    <a:pt x="68844" y="0"/>
                    <a:pt x="153766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90639" cy="1984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39517" y="1779670"/>
            <a:ext cx="3576371" cy="6671925"/>
            <a:chOff x="0" y="0"/>
            <a:chExt cx="554073" cy="10336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4073" cy="1033656"/>
            </a:xfrm>
            <a:custGeom>
              <a:avLst/>
              <a:gdLst/>
              <a:ahLst/>
              <a:cxnLst/>
              <a:rect l="l" t="t" r="r" b="b"/>
              <a:pathLst>
                <a:path w="554073" h="1033656">
                  <a:moveTo>
                    <a:pt x="90919" y="0"/>
                  </a:moveTo>
                  <a:lnTo>
                    <a:pt x="463154" y="0"/>
                  </a:lnTo>
                  <a:cubicBezTo>
                    <a:pt x="487267" y="0"/>
                    <a:pt x="510393" y="9579"/>
                    <a:pt x="527444" y="26630"/>
                  </a:cubicBezTo>
                  <a:cubicBezTo>
                    <a:pt x="544494" y="43680"/>
                    <a:pt x="554073" y="66806"/>
                    <a:pt x="554073" y="90919"/>
                  </a:cubicBezTo>
                  <a:lnTo>
                    <a:pt x="554073" y="942737"/>
                  </a:lnTo>
                  <a:cubicBezTo>
                    <a:pt x="554073" y="966850"/>
                    <a:pt x="544494" y="989976"/>
                    <a:pt x="527444" y="1007026"/>
                  </a:cubicBezTo>
                  <a:cubicBezTo>
                    <a:pt x="510393" y="1024077"/>
                    <a:pt x="487267" y="1033656"/>
                    <a:pt x="463154" y="1033656"/>
                  </a:cubicBezTo>
                  <a:lnTo>
                    <a:pt x="90919" y="1033656"/>
                  </a:lnTo>
                  <a:cubicBezTo>
                    <a:pt x="66806" y="1033656"/>
                    <a:pt x="43680" y="1024077"/>
                    <a:pt x="26630" y="1007026"/>
                  </a:cubicBezTo>
                  <a:cubicBezTo>
                    <a:pt x="9579" y="989976"/>
                    <a:pt x="0" y="966850"/>
                    <a:pt x="0" y="942737"/>
                  </a:cubicBezTo>
                  <a:lnTo>
                    <a:pt x="0" y="90919"/>
                  </a:lnTo>
                  <a:cubicBezTo>
                    <a:pt x="0" y="66806"/>
                    <a:pt x="9579" y="43680"/>
                    <a:pt x="26630" y="26630"/>
                  </a:cubicBezTo>
                  <a:cubicBezTo>
                    <a:pt x="43680" y="9579"/>
                    <a:pt x="66806" y="0"/>
                    <a:pt x="90919" y="0"/>
                  </a:cubicBezTo>
                  <a:close/>
                </a:path>
              </a:pathLst>
            </a:custGeom>
            <a:blipFill>
              <a:blip r:embed="rId2"/>
              <a:stretch>
                <a:fillRect l="-44846" r="-1347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12231" y="2616636"/>
            <a:ext cx="2087032" cy="5053727"/>
            <a:chOff x="0" y="0"/>
            <a:chExt cx="323336" cy="7829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3336" cy="782955"/>
            </a:xfrm>
            <a:custGeom>
              <a:avLst/>
              <a:gdLst/>
              <a:ahLst/>
              <a:cxnLst/>
              <a:rect l="l" t="t" r="r" b="b"/>
              <a:pathLst>
                <a:path w="323336" h="782955">
                  <a:moveTo>
                    <a:pt x="155801" y="0"/>
                  </a:moveTo>
                  <a:lnTo>
                    <a:pt x="167535" y="0"/>
                  </a:lnTo>
                  <a:cubicBezTo>
                    <a:pt x="208856" y="0"/>
                    <a:pt x="248485" y="16415"/>
                    <a:pt x="277703" y="45633"/>
                  </a:cubicBezTo>
                  <a:cubicBezTo>
                    <a:pt x="306921" y="74851"/>
                    <a:pt x="323336" y="114480"/>
                    <a:pt x="323336" y="155801"/>
                  </a:cubicBezTo>
                  <a:lnTo>
                    <a:pt x="323336" y="627154"/>
                  </a:lnTo>
                  <a:cubicBezTo>
                    <a:pt x="323336" y="713200"/>
                    <a:pt x="253582" y="782955"/>
                    <a:pt x="167535" y="782955"/>
                  </a:cubicBezTo>
                  <a:lnTo>
                    <a:pt x="155801" y="782955"/>
                  </a:lnTo>
                  <a:cubicBezTo>
                    <a:pt x="69754" y="782955"/>
                    <a:pt x="0" y="713200"/>
                    <a:pt x="0" y="627154"/>
                  </a:cubicBezTo>
                  <a:lnTo>
                    <a:pt x="0" y="155801"/>
                  </a:lnTo>
                  <a:cubicBezTo>
                    <a:pt x="0" y="69754"/>
                    <a:pt x="69754" y="0"/>
                    <a:pt x="155801" y="0"/>
                  </a:cubicBezTo>
                  <a:close/>
                </a:path>
              </a:pathLst>
            </a:custGeom>
            <a:blipFill>
              <a:blip r:embed="rId3"/>
              <a:stretch>
                <a:fillRect l="-257812" t="-13014" r="-96223" b="-121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507525" y="527587"/>
            <a:ext cx="3086100" cy="848431"/>
            <a:chOff x="0" y="0"/>
            <a:chExt cx="812800" cy="2234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223455"/>
            </a:xfrm>
            <a:custGeom>
              <a:avLst/>
              <a:gdLst/>
              <a:ahLst/>
              <a:cxnLst/>
              <a:rect l="l" t="t" r="r" b="b"/>
              <a:pathLst>
                <a:path w="812800" h="223455">
                  <a:moveTo>
                    <a:pt x="111728" y="0"/>
                  </a:moveTo>
                  <a:lnTo>
                    <a:pt x="701072" y="0"/>
                  </a:lnTo>
                  <a:cubicBezTo>
                    <a:pt x="762778" y="0"/>
                    <a:pt x="812800" y="50022"/>
                    <a:pt x="812800" y="111728"/>
                  </a:cubicBezTo>
                  <a:lnTo>
                    <a:pt x="812800" y="111728"/>
                  </a:lnTo>
                  <a:cubicBezTo>
                    <a:pt x="812800" y="141360"/>
                    <a:pt x="801029" y="169778"/>
                    <a:pt x="780076" y="190731"/>
                  </a:cubicBezTo>
                  <a:cubicBezTo>
                    <a:pt x="759123" y="211684"/>
                    <a:pt x="730704" y="223455"/>
                    <a:pt x="701072" y="223455"/>
                  </a:cubicBezTo>
                  <a:lnTo>
                    <a:pt x="111728" y="223455"/>
                  </a:lnTo>
                  <a:cubicBezTo>
                    <a:pt x="50022" y="223455"/>
                    <a:pt x="0" y="173433"/>
                    <a:pt x="0" y="111728"/>
                  </a:cubicBezTo>
                  <a:lnTo>
                    <a:pt x="0" y="111728"/>
                  </a:lnTo>
                  <a:cubicBezTo>
                    <a:pt x="0" y="50022"/>
                    <a:pt x="50022" y="0"/>
                    <a:pt x="111728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812800" cy="232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775206" y="709755"/>
            <a:ext cx="484094" cy="484094"/>
          </a:xfrm>
          <a:custGeom>
            <a:avLst/>
            <a:gdLst/>
            <a:ahLst/>
            <a:cxnLst/>
            <a:rect l="l" t="t" r="r" b="b"/>
            <a:pathLst>
              <a:path w="484094" h="484094">
                <a:moveTo>
                  <a:pt x="0" y="0"/>
                </a:moveTo>
                <a:lnTo>
                  <a:pt x="484094" y="0"/>
                </a:lnTo>
                <a:lnTo>
                  <a:pt x="484094" y="484095"/>
                </a:lnTo>
                <a:lnTo>
                  <a:pt x="0" y="4840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0049769" y="6908715"/>
            <a:ext cx="3086100" cy="81533"/>
            <a:chOff x="0" y="0"/>
            <a:chExt cx="812800" cy="2147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21474"/>
            </a:xfrm>
            <a:custGeom>
              <a:avLst/>
              <a:gdLst/>
              <a:ahLst/>
              <a:cxnLst/>
              <a:rect l="l" t="t" r="r" b="b"/>
              <a:pathLst>
                <a:path w="812800" h="21474">
                  <a:moveTo>
                    <a:pt x="10737" y="0"/>
                  </a:moveTo>
                  <a:lnTo>
                    <a:pt x="802063" y="0"/>
                  </a:lnTo>
                  <a:cubicBezTo>
                    <a:pt x="807993" y="0"/>
                    <a:pt x="812800" y="4807"/>
                    <a:pt x="812800" y="10737"/>
                  </a:cubicBezTo>
                  <a:lnTo>
                    <a:pt x="812800" y="10737"/>
                  </a:lnTo>
                  <a:cubicBezTo>
                    <a:pt x="812800" y="13584"/>
                    <a:pt x="811669" y="16315"/>
                    <a:pt x="809655" y="18329"/>
                  </a:cubicBezTo>
                  <a:cubicBezTo>
                    <a:pt x="807642" y="20343"/>
                    <a:pt x="804911" y="21474"/>
                    <a:pt x="802063" y="21474"/>
                  </a:cubicBezTo>
                  <a:lnTo>
                    <a:pt x="10737" y="21474"/>
                  </a:lnTo>
                  <a:cubicBezTo>
                    <a:pt x="4807" y="21474"/>
                    <a:pt x="0" y="16667"/>
                    <a:pt x="0" y="10737"/>
                  </a:cubicBezTo>
                  <a:lnTo>
                    <a:pt x="0" y="10737"/>
                  </a:lnTo>
                  <a:cubicBezTo>
                    <a:pt x="0" y="4807"/>
                    <a:pt x="4807" y="0"/>
                    <a:pt x="10737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812800" cy="30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779198" y="8451596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049769" y="3940979"/>
            <a:ext cx="6099902" cy="278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Description or Quality?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49769" y="8433435"/>
            <a:ext cx="4361213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[2013] EWHC 2872 (Comm), QBD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49769" y="1487127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Sale of Goods Act, 1893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49769" y="3306614"/>
            <a:ext cx="51932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Proton Energy v Orlen Lietuva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5034" y="1689237"/>
            <a:ext cx="7628966" cy="7569063"/>
            <a:chOff x="0" y="0"/>
            <a:chExt cx="2009275" cy="19934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9275" cy="1993498"/>
            </a:xfrm>
            <a:custGeom>
              <a:avLst/>
              <a:gdLst/>
              <a:ahLst/>
              <a:cxnLst/>
              <a:rect l="l" t="t" r="r" b="b"/>
              <a:pathLst>
                <a:path w="2009275" h="1993498">
                  <a:moveTo>
                    <a:pt x="51755" y="0"/>
                  </a:moveTo>
                  <a:lnTo>
                    <a:pt x="1957520" y="0"/>
                  </a:lnTo>
                  <a:cubicBezTo>
                    <a:pt x="1971246" y="0"/>
                    <a:pt x="1984410" y="5453"/>
                    <a:pt x="1994116" y="15159"/>
                  </a:cubicBezTo>
                  <a:cubicBezTo>
                    <a:pt x="2003822" y="24865"/>
                    <a:pt x="2009275" y="38029"/>
                    <a:pt x="2009275" y="51755"/>
                  </a:cubicBezTo>
                  <a:lnTo>
                    <a:pt x="2009275" y="1941743"/>
                  </a:lnTo>
                  <a:cubicBezTo>
                    <a:pt x="2009275" y="1970327"/>
                    <a:pt x="1986103" y="1993498"/>
                    <a:pt x="1957520" y="1993498"/>
                  </a:cubicBezTo>
                  <a:lnTo>
                    <a:pt x="51755" y="1993498"/>
                  </a:lnTo>
                  <a:cubicBezTo>
                    <a:pt x="23172" y="1993498"/>
                    <a:pt x="0" y="1970327"/>
                    <a:pt x="0" y="1941743"/>
                  </a:cubicBezTo>
                  <a:lnTo>
                    <a:pt x="0" y="51755"/>
                  </a:lnTo>
                  <a:cubicBezTo>
                    <a:pt x="0" y="23172"/>
                    <a:pt x="23172" y="0"/>
                    <a:pt x="51755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09275" cy="2041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107790" y="72108"/>
            <a:ext cx="4905264" cy="5752442"/>
          </a:xfrm>
          <a:custGeom>
            <a:avLst/>
            <a:gdLst/>
            <a:ahLst/>
            <a:cxnLst/>
            <a:rect l="l" t="t" r="r" b="b"/>
            <a:pathLst>
              <a:path w="4905264" h="5752442">
                <a:moveTo>
                  <a:pt x="0" y="0"/>
                </a:moveTo>
                <a:lnTo>
                  <a:pt x="4905265" y="0"/>
                </a:lnTo>
                <a:lnTo>
                  <a:pt x="4905265" y="5752442"/>
                </a:lnTo>
                <a:lnTo>
                  <a:pt x="0" y="5752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79251" y="4660255"/>
            <a:ext cx="6980049" cy="4598045"/>
            <a:chOff x="0" y="0"/>
            <a:chExt cx="1081392" cy="712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1392" cy="712358"/>
            </a:xfrm>
            <a:custGeom>
              <a:avLst/>
              <a:gdLst/>
              <a:ahLst/>
              <a:cxnLst/>
              <a:rect l="l" t="t" r="r" b="b"/>
              <a:pathLst>
                <a:path w="1081392" h="712358">
                  <a:moveTo>
                    <a:pt x="62112" y="0"/>
                  </a:moveTo>
                  <a:lnTo>
                    <a:pt x="1019280" y="0"/>
                  </a:lnTo>
                  <a:cubicBezTo>
                    <a:pt x="1035753" y="0"/>
                    <a:pt x="1051552" y="6544"/>
                    <a:pt x="1063200" y="18192"/>
                  </a:cubicBezTo>
                  <a:cubicBezTo>
                    <a:pt x="1074848" y="29841"/>
                    <a:pt x="1081392" y="45639"/>
                    <a:pt x="1081392" y="62112"/>
                  </a:cubicBezTo>
                  <a:lnTo>
                    <a:pt x="1081392" y="650245"/>
                  </a:lnTo>
                  <a:cubicBezTo>
                    <a:pt x="1081392" y="684549"/>
                    <a:pt x="1053584" y="712358"/>
                    <a:pt x="1019280" y="712358"/>
                  </a:cubicBezTo>
                  <a:lnTo>
                    <a:pt x="62112" y="712358"/>
                  </a:lnTo>
                  <a:cubicBezTo>
                    <a:pt x="27809" y="712358"/>
                    <a:pt x="0" y="684549"/>
                    <a:pt x="0" y="650245"/>
                  </a:cubicBezTo>
                  <a:lnTo>
                    <a:pt x="0" y="62112"/>
                  </a:lnTo>
                  <a:cubicBezTo>
                    <a:pt x="0" y="27809"/>
                    <a:pt x="27809" y="0"/>
                    <a:pt x="62112" y="0"/>
                  </a:cubicBezTo>
                  <a:close/>
                </a:path>
              </a:pathLst>
            </a:custGeom>
            <a:blipFill>
              <a:blip r:embed="rId3"/>
              <a:stretch>
                <a:fillRect t="-63750" b="-6375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2966057" y="2941779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1" y="0"/>
                </a:lnTo>
                <a:lnTo>
                  <a:pt x="667151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966057" y="5040102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1" y="0"/>
                </a:lnTo>
                <a:lnTo>
                  <a:pt x="667151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899382" y="7144936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1" y="0"/>
                </a:lnTo>
                <a:lnTo>
                  <a:pt x="667151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570745" y="9258300"/>
            <a:ext cx="3198890" cy="3751364"/>
          </a:xfrm>
          <a:custGeom>
            <a:avLst/>
            <a:gdLst/>
            <a:ahLst/>
            <a:cxnLst/>
            <a:rect l="l" t="t" r="r" b="b"/>
            <a:pathLst>
              <a:path w="3198890" h="3751364">
                <a:moveTo>
                  <a:pt x="0" y="0"/>
                </a:moveTo>
                <a:lnTo>
                  <a:pt x="3198890" y="0"/>
                </a:lnTo>
                <a:lnTo>
                  <a:pt x="3198890" y="3751364"/>
                </a:lnTo>
                <a:lnTo>
                  <a:pt x="0" y="3751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279251" y="3781936"/>
            <a:ext cx="914326" cy="151279"/>
          </a:xfrm>
          <a:custGeom>
            <a:avLst/>
            <a:gdLst/>
            <a:ahLst/>
            <a:cxnLst/>
            <a:rect l="l" t="t" r="r" b="b"/>
            <a:pathLst>
              <a:path w="914326" h="151279">
                <a:moveTo>
                  <a:pt x="0" y="0"/>
                </a:moveTo>
                <a:lnTo>
                  <a:pt x="914326" y="0"/>
                </a:lnTo>
                <a:lnTo>
                  <a:pt x="914326" y="151280"/>
                </a:lnTo>
                <a:lnTo>
                  <a:pt x="0" y="151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891224" y="2900704"/>
            <a:ext cx="2989607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Is the specification part of the description, or only quality?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91224" y="4999027"/>
            <a:ext cx="389728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Description: Orlen may reject the cargo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4549" y="7103862"/>
            <a:ext cx="4199842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Quality: the contract lives, the remedy is damages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79251" y="1651137"/>
            <a:ext cx="6320730" cy="192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One Question, $1.36 Million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97125" y="760044"/>
            <a:ext cx="835819" cy="62623"/>
            <a:chOff x="0" y="0"/>
            <a:chExt cx="220133" cy="1649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0133" cy="16493"/>
            </a:xfrm>
            <a:custGeom>
              <a:avLst/>
              <a:gdLst/>
              <a:ahLst/>
              <a:cxnLst/>
              <a:rect l="l" t="t" r="r" b="b"/>
              <a:pathLst>
                <a:path w="220133" h="16493">
                  <a:moveTo>
                    <a:pt x="8247" y="0"/>
                  </a:moveTo>
                  <a:lnTo>
                    <a:pt x="211887" y="0"/>
                  </a:lnTo>
                  <a:cubicBezTo>
                    <a:pt x="214074" y="0"/>
                    <a:pt x="216171" y="869"/>
                    <a:pt x="217718" y="2415"/>
                  </a:cubicBezTo>
                  <a:cubicBezTo>
                    <a:pt x="219265" y="3962"/>
                    <a:pt x="220133" y="6060"/>
                    <a:pt x="220133" y="8247"/>
                  </a:cubicBezTo>
                  <a:lnTo>
                    <a:pt x="220133" y="8247"/>
                  </a:lnTo>
                  <a:cubicBezTo>
                    <a:pt x="220133" y="12801"/>
                    <a:pt x="216441" y="16493"/>
                    <a:pt x="211887" y="16493"/>
                  </a:cubicBezTo>
                  <a:lnTo>
                    <a:pt x="8247" y="16493"/>
                  </a:lnTo>
                  <a:cubicBezTo>
                    <a:pt x="6060" y="16493"/>
                    <a:pt x="3962" y="15625"/>
                    <a:pt x="2415" y="14078"/>
                  </a:cubicBezTo>
                  <a:cubicBezTo>
                    <a:pt x="869" y="12531"/>
                    <a:pt x="0" y="10434"/>
                    <a:pt x="0" y="8247"/>
                  </a:cubicBezTo>
                  <a:lnTo>
                    <a:pt x="0" y="8247"/>
                  </a:lnTo>
                  <a:cubicBezTo>
                    <a:pt x="0" y="6060"/>
                    <a:pt x="869" y="3962"/>
                    <a:pt x="2415" y="2415"/>
                  </a:cubicBezTo>
                  <a:cubicBezTo>
                    <a:pt x="3962" y="869"/>
                    <a:pt x="6060" y="0"/>
                    <a:pt x="8247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220133" cy="2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36784" y="1549859"/>
            <a:ext cx="8014433" cy="192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The Deal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954431" y="5328843"/>
            <a:ext cx="4018145" cy="2927483"/>
            <a:chOff x="0" y="0"/>
            <a:chExt cx="1058277" cy="7710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8277" cy="771024"/>
            </a:xfrm>
            <a:custGeom>
              <a:avLst/>
              <a:gdLst/>
              <a:ahLst/>
              <a:cxnLst/>
              <a:rect l="l" t="t" r="r" b="b"/>
              <a:pathLst>
                <a:path w="1058277" h="771024">
                  <a:moveTo>
                    <a:pt x="98264" y="0"/>
                  </a:moveTo>
                  <a:lnTo>
                    <a:pt x="960013" y="0"/>
                  </a:lnTo>
                  <a:cubicBezTo>
                    <a:pt x="1014283" y="0"/>
                    <a:pt x="1058277" y="43994"/>
                    <a:pt x="1058277" y="98264"/>
                  </a:cubicBezTo>
                  <a:lnTo>
                    <a:pt x="1058277" y="672761"/>
                  </a:lnTo>
                  <a:cubicBezTo>
                    <a:pt x="1058277" y="727030"/>
                    <a:pt x="1014283" y="771024"/>
                    <a:pt x="960013" y="771024"/>
                  </a:cubicBezTo>
                  <a:lnTo>
                    <a:pt x="98264" y="771024"/>
                  </a:lnTo>
                  <a:cubicBezTo>
                    <a:pt x="43994" y="771024"/>
                    <a:pt x="0" y="727030"/>
                    <a:pt x="0" y="672761"/>
                  </a:cubicBezTo>
                  <a:lnTo>
                    <a:pt x="0" y="98264"/>
                  </a:lnTo>
                  <a:cubicBezTo>
                    <a:pt x="0" y="43994"/>
                    <a:pt x="43994" y="0"/>
                    <a:pt x="98264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58277" cy="818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35230" y="5328843"/>
            <a:ext cx="4018145" cy="2927483"/>
            <a:chOff x="0" y="0"/>
            <a:chExt cx="1058277" cy="7710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8277" cy="771024"/>
            </a:xfrm>
            <a:custGeom>
              <a:avLst/>
              <a:gdLst/>
              <a:ahLst/>
              <a:cxnLst/>
              <a:rect l="l" t="t" r="r" b="b"/>
              <a:pathLst>
                <a:path w="1058277" h="771024">
                  <a:moveTo>
                    <a:pt x="98264" y="0"/>
                  </a:moveTo>
                  <a:lnTo>
                    <a:pt x="960013" y="0"/>
                  </a:lnTo>
                  <a:cubicBezTo>
                    <a:pt x="1014283" y="0"/>
                    <a:pt x="1058277" y="43994"/>
                    <a:pt x="1058277" y="98264"/>
                  </a:cubicBezTo>
                  <a:lnTo>
                    <a:pt x="1058277" y="672761"/>
                  </a:lnTo>
                  <a:cubicBezTo>
                    <a:pt x="1058277" y="727030"/>
                    <a:pt x="1014283" y="771024"/>
                    <a:pt x="960013" y="771024"/>
                  </a:cubicBezTo>
                  <a:lnTo>
                    <a:pt x="98264" y="771024"/>
                  </a:lnTo>
                  <a:cubicBezTo>
                    <a:pt x="43994" y="771024"/>
                    <a:pt x="0" y="727030"/>
                    <a:pt x="0" y="672761"/>
                  </a:cubicBezTo>
                  <a:lnTo>
                    <a:pt x="0" y="98264"/>
                  </a:lnTo>
                  <a:cubicBezTo>
                    <a:pt x="0" y="43994"/>
                    <a:pt x="43994" y="0"/>
                    <a:pt x="98264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8277" cy="818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15425" y="5328843"/>
            <a:ext cx="4018145" cy="2927483"/>
            <a:chOff x="0" y="0"/>
            <a:chExt cx="1058277" cy="7710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8277" cy="771024"/>
            </a:xfrm>
            <a:custGeom>
              <a:avLst/>
              <a:gdLst/>
              <a:ahLst/>
              <a:cxnLst/>
              <a:rect l="l" t="t" r="r" b="b"/>
              <a:pathLst>
                <a:path w="1058277" h="771024">
                  <a:moveTo>
                    <a:pt x="98264" y="0"/>
                  </a:moveTo>
                  <a:lnTo>
                    <a:pt x="960013" y="0"/>
                  </a:lnTo>
                  <a:cubicBezTo>
                    <a:pt x="1014283" y="0"/>
                    <a:pt x="1058277" y="43994"/>
                    <a:pt x="1058277" y="98264"/>
                  </a:cubicBezTo>
                  <a:lnTo>
                    <a:pt x="1058277" y="672761"/>
                  </a:lnTo>
                  <a:cubicBezTo>
                    <a:pt x="1058277" y="727030"/>
                    <a:pt x="1014283" y="771024"/>
                    <a:pt x="960013" y="771024"/>
                  </a:cubicBezTo>
                  <a:lnTo>
                    <a:pt x="98264" y="771024"/>
                  </a:lnTo>
                  <a:cubicBezTo>
                    <a:pt x="43994" y="771024"/>
                    <a:pt x="0" y="727030"/>
                    <a:pt x="0" y="672761"/>
                  </a:cubicBezTo>
                  <a:lnTo>
                    <a:pt x="0" y="98264"/>
                  </a:lnTo>
                  <a:cubicBezTo>
                    <a:pt x="0" y="43994"/>
                    <a:pt x="43994" y="0"/>
                    <a:pt x="98264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058277" cy="818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606862" y="6926487"/>
            <a:ext cx="271328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14 Jun: firm offer, 25,000 MT, spec attached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05458" y="6926487"/>
            <a:ext cx="3677689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14 Jun: Orlen confirms; Proton buys from Trafigura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59846" y="6926487"/>
            <a:ext cx="3129301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29 Jun: Orlen withdraws; cargo refused; $1.36m claimed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6780" y="5728262"/>
            <a:ext cx="2133446" cy="78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spc="-275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77277" y="5728262"/>
            <a:ext cx="2133446" cy="78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spc="-275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57774" y="5728262"/>
            <a:ext cx="2133446" cy="78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spc="-275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03</a:t>
            </a:r>
          </a:p>
        </p:txBody>
      </p:sp>
      <p:sp>
        <p:nvSpPr>
          <p:cNvPr id="18" name="Freeform 18"/>
          <p:cNvSpPr/>
          <p:nvPr/>
        </p:nvSpPr>
        <p:spPr>
          <a:xfrm>
            <a:off x="-1587979" y="0"/>
            <a:ext cx="4484760" cy="5259313"/>
          </a:xfrm>
          <a:custGeom>
            <a:avLst/>
            <a:gdLst/>
            <a:ahLst/>
            <a:cxnLst/>
            <a:rect l="l" t="t" r="r" b="b"/>
            <a:pathLst>
              <a:path w="4484760" h="5259313">
                <a:moveTo>
                  <a:pt x="0" y="0"/>
                </a:moveTo>
                <a:lnTo>
                  <a:pt x="4484759" y="0"/>
                </a:lnTo>
                <a:lnTo>
                  <a:pt x="4484759" y="5259313"/>
                </a:lnTo>
                <a:lnTo>
                  <a:pt x="0" y="5259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 flipH="1">
            <a:off x="15389591" y="-115813"/>
            <a:ext cx="4484760" cy="5259313"/>
          </a:xfrm>
          <a:custGeom>
            <a:avLst/>
            <a:gdLst/>
            <a:ahLst/>
            <a:cxnLst/>
            <a:rect l="l" t="t" r="r" b="b"/>
            <a:pathLst>
              <a:path w="4484760" h="5259313">
                <a:moveTo>
                  <a:pt x="4484760" y="0"/>
                </a:moveTo>
                <a:lnTo>
                  <a:pt x="0" y="0"/>
                </a:lnTo>
                <a:lnTo>
                  <a:pt x="0" y="5259313"/>
                </a:lnTo>
                <a:lnTo>
                  <a:pt x="4484760" y="5259313"/>
                </a:lnTo>
                <a:lnTo>
                  <a:pt x="44847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17028" y="1170893"/>
            <a:ext cx="14981569" cy="3972607"/>
            <a:chOff x="0" y="0"/>
            <a:chExt cx="2538958" cy="6732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38958" cy="673246"/>
            </a:xfrm>
            <a:custGeom>
              <a:avLst/>
              <a:gdLst/>
              <a:ahLst/>
              <a:cxnLst/>
              <a:rect l="l" t="t" r="r" b="b"/>
              <a:pathLst>
                <a:path w="2538958" h="673246">
                  <a:moveTo>
                    <a:pt x="22738" y="0"/>
                  </a:moveTo>
                  <a:lnTo>
                    <a:pt x="2516220" y="0"/>
                  </a:lnTo>
                  <a:cubicBezTo>
                    <a:pt x="2522251" y="0"/>
                    <a:pt x="2528034" y="2396"/>
                    <a:pt x="2532298" y="6660"/>
                  </a:cubicBezTo>
                  <a:cubicBezTo>
                    <a:pt x="2536562" y="10924"/>
                    <a:pt x="2538958" y="16707"/>
                    <a:pt x="2538958" y="22738"/>
                  </a:cubicBezTo>
                  <a:lnTo>
                    <a:pt x="2538958" y="650508"/>
                  </a:lnTo>
                  <a:cubicBezTo>
                    <a:pt x="2538958" y="656539"/>
                    <a:pt x="2536562" y="662322"/>
                    <a:pt x="2532298" y="666586"/>
                  </a:cubicBezTo>
                  <a:cubicBezTo>
                    <a:pt x="2528034" y="670850"/>
                    <a:pt x="2522251" y="673246"/>
                    <a:pt x="2516220" y="673246"/>
                  </a:cubicBezTo>
                  <a:lnTo>
                    <a:pt x="22738" y="673246"/>
                  </a:lnTo>
                  <a:cubicBezTo>
                    <a:pt x="16707" y="673246"/>
                    <a:pt x="10924" y="670850"/>
                    <a:pt x="6660" y="666586"/>
                  </a:cubicBezTo>
                  <a:cubicBezTo>
                    <a:pt x="2396" y="662322"/>
                    <a:pt x="0" y="656539"/>
                    <a:pt x="0" y="650508"/>
                  </a:cubicBezTo>
                  <a:lnTo>
                    <a:pt x="0" y="22738"/>
                  </a:lnTo>
                  <a:cubicBezTo>
                    <a:pt x="0" y="16707"/>
                    <a:pt x="2396" y="10924"/>
                    <a:pt x="6660" y="6660"/>
                  </a:cubicBezTo>
                  <a:cubicBezTo>
                    <a:pt x="10924" y="2396"/>
                    <a:pt x="16707" y="0"/>
                    <a:pt x="22738" y="0"/>
                  </a:cubicBezTo>
                  <a:close/>
                </a:path>
              </a:pathLst>
            </a:custGeom>
            <a:blipFill>
              <a:blip r:embed="rId2"/>
              <a:stretch>
                <a:fillRect t="-75628" b="-756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341061" y="5951796"/>
            <a:ext cx="6320730" cy="192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"Confirmed."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661792" y="3938629"/>
            <a:ext cx="7539439" cy="5319671"/>
            <a:chOff x="0" y="0"/>
            <a:chExt cx="1985696" cy="14010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85696" cy="1401066"/>
            </a:xfrm>
            <a:custGeom>
              <a:avLst/>
              <a:gdLst/>
              <a:ahLst/>
              <a:cxnLst/>
              <a:rect l="l" t="t" r="r" b="b"/>
              <a:pathLst>
                <a:path w="1985696" h="1401066">
                  <a:moveTo>
                    <a:pt x="52370" y="0"/>
                  </a:moveTo>
                  <a:lnTo>
                    <a:pt x="1933326" y="0"/>
                  </a:lnTo>
                  <a:cubicBezTo>
                    <a:pt x="1947215" y="0"/>
                    <a:pt x="1960536" y="5518"/>
                    <a:pt x="1970357" y="15339"/>
                  </a:cubicBezTo>
                  <a:cubicBezTo>
                    <a:pt x="1980178" y="25160"/>
                    <a:pt x="1985696" y="38480"/>
                    <a:pt x="1985696" y="52370"/>
                  </a:cubicBezTo>
                  <a:lnTo>
                    <a:pt x="1985696" y="1348696"/>
                  </a:lnTo>
                  <a:cubicBezTo>
                    <a:pt x="1985696" y="1377619"/>
                    <a:pt x="1962249" y="1401066"/>
                    <a:pt x="1933326" y="1401066"/>
                  </a:cubicBezTo>
                  <a:lnTo>
                    <a:pt x="52370" y="1401066"/>
                  </a:lnTo>
                  <a:cubicBezTo>
                    <a:pt x="23447" y="1401066"/>
                    <a:pt x="0" y="1377619"/>
                    <a:pt x="0" y="1348696"/>
                  </a:cubicBezTo>
                  <a:lnTo>
                    <a:pt x="0" y="52370"/>
                  </a:lnTo>
                  <a:cubicBezTo>
                    <a:pt x="0" y="23447"/>
                    <a:pt x="23447" y="0"/>
                    <a:pt x="52370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985696" cy="1448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19979" y="4618096"/>
            <a:ext cx="442738" cy="44273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19979" y="6118483"/>
            <a:ext cx="442738" cy="44273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19979" y="7618870"/>
            <a:ext cx="442738" cy="44273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24487" y="4525140"/>
            <a:ext cx="521855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Orlen’s entire reply, 14 June 2012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24487" y="6025527"/>
            <a:ext cx="521855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Proton bought the cargo from Trafigura the same day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24487" y="7562791"/>
            <a:ext cx="521855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Held: a binding contract was concluded that day</a:t>
            </a:r>
          </a:p>
        </p:txBody>
      </p:sp>
      <p:sp>
        <p:nvSpPr>
          <p:cNvPr id="20" name="Freeform 20"/>
          <p:cNvSpPr/>
          <p:nvPr/>
        </p:nvSpPr>
        <p:spPr>
          <a:xfrm flipH="1">
            <a:off x="-1098016" y="8394602"/>
            <a:ext cx="4905264" cy="5752442"/>
          </a:xfrm>
          <a:custGeom>
            <a:avLst/>
            <a:gdLst/>
            <a:ahLst/>
            <a:cxnLst/>
            <a:rect l="l" t="t" r="r" b="b"/>
            <a:pathLst>
              <a:path w="4905264" h="5752442">
                <a:moveTo>
                  <a:pt x="4905264" y="0"/>
                </a:moveTo>
                <a:lnTo>
                  <a:pt x="0" y="0"/>
                </a:lnTo>
                <a:lnTo>
                  <a:pt x="0" y="5752442"/>
                </a:lnTo>
                <a:lnTo>
                  <a:pt x="4905264" y="5752442"/>
                </a:lnTo>
                <a:lnTo>
                  <a:pt x="490526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6F52F-975C-E009-CCAB-BC4605AC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>
            <a:extLst>
              <a:ext uri="{FF2B5EF4-FFF2-40B4-BE49-F238E27FC236}">
                <a16:creationId xmlns:a16="http://schemas.microsoft.com/office/drawing/2014/main" id="{BEBAC503-46DB-1A5B-61AC-BB26314E826E}"/>
              </a:ext>
            </a:extLst>
          </p:cNvPr>
          <p:cNvSpPr/>
          <p:nvPr/>
        </p:nvSpPr>
        <p:spPr>
          <a:xfrm>
            <a:off x="-1587979" y="0"/>
            <a:ext cx="4484760" cy="5259313"/>
          </a:xfrm>
          <a:custGeom>
            <a:avLst/>
            <a:gdLst/>
            <a:ahLst/>
            <a:cxnLst/>
            <a:rect l="l" t="t" r="r" b="b"/>
            <a:pathLst>
              <a:path w="4484760" h="5259313">
                <a:moveTo>
                  <a:pt x="0" y="0"/>
                </a:moveTo>
                <a:lnTo>
                  <a:pt x="4484759" y="0"/>
                </a:lnTo>
                <a:lnTo>
                  <a:pt x="4484759" y="5259313"/>
                </a:lnTo>
                <a:lnTo>
                  <a:pt x="0" y="5259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7EA4E8A1-5F7A-1B19-F2A8-DB571883169E}"/>
              </a:ext>
            </a:extLst>
          </p:cNvPr>
          <p:cNvSpPr/>
          <p:nvPr/>
        </p:nvSpPr>
        <p:spPr>
          <a:xfrm flipH="1">
            <a:off x="15389591" y="-115813"/>
            <a:ext cx="4484760" cy="5259313"/>
          </a:xfrm>
          <a:custGeom>
            <a:avLst/>
            <a:gdLst/>
            <a:ahLst/>
            <a:cxnLst/>
            <a:rect l="l" t="t" r="r" b="b"/>
            <a:pathLst>
              <a:path w="4484760" h="5259313">
                <a:moveTo>
                  <a:pt x="4484760" y="0"/>
                </a:moveTo>
                <a:lnTo>
                  <a:pt x="0" y="0"/>
                </a:lnTo>
                <a:lnTo>
                  <a:pt x="0" y="5259313"/>
                </a:lnTo>
                <a:lnTo>
                  <a:pt x="4484760" y="5259313"/>
                </a:lnTo>
                <a:lnTo>
                  <a:pt x="44847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ACBCED2-C2AB-F5F2-5693-482C57797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478809"/>
            <a:ext cx="3306041" cy="8763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1111653-D266-E344-3FD9-8F1E7F2E5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9215" y="478809"/>
            <a:ext cx="3733800" cy="902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15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C2CD8-9516-9F3F-8435-1CD63CEF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>
            <a:extLst>
              <a:ext uri="{FF2B5EF4-FFF2-40B4-BE49-F238E27FC236}">
                <a16:creationId xmlns:a16="http://schemas.microsoft.com/office/drawing/2014/main" id="{1817D965-91A7-50BE-8B86-8DDA7407B530}"/>
              </a:ext>
            </a:extLst>
          </p:cNvPr>
          <p:cNvSpPr/>
          <p:nvPr/>
        </p:nvSpPr>
        <p:spPr>
          <a:xfrm>
            <a:off x="-1587979" y="0"/>
            <a:ext cx="4484760" cy="5259313"/>
          </a:xfrm>
          <a:custGeom>
            <a:avLst/>
            <a:gdLst/>
            <a:ahLst/>
            <a:cxnLst/>
            <a:rect l="l" t="t" r="r" b="b"/>
            <a:pathLst>
              <a:path w="4484760" h="5259313">
                <a:moveTo>
                  <a:pt x="0" y="0"/>
                </a:moveTo>
                <a:lnTo>
                  <a:pt x="4484759" y="0"/>
                </a:lnTo>
                <a:lnTo>
                  <a:pt x="4484759" y="5259313"/>
                </a:lnTo>
                <a:lnTo>
                  <a:pt x="0" y="5259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FC4DF1C3-5DEE-FBDA-A541-4A27CA22CB6C}"/>
              </a:ext>
            </a:extLst>
          </p:cNvPr>
          <p:cNvSpPr/>
          <p:nvPr/>
        </p:nvSpPr>
        <p:spPr>
          <a:xfrm flipH="1">
            <a:off x="15389591" y="-115813"/>
            <a:ext cx="4484760" cy="5259313"/>
          </a:xfrm>
          <a:custGeom>
            <a:avLst/>
            <a:gdLst/>
            <a:ahLst/>
            <a:cxnLst/>
            <a:rect l="l" t="t" r="r" b="b"/>
            <a:pathLst>
              <a:path w="4484760" h="5259313">
                <a:moveTo>
                  <a:pt x="4484760" y="0"/>
                </a:moveTo>
                <a:lnTo>
                  <a:pt x="0" y="0"/>
                </a:lnTo>
                <a:lnTo>
                  <a:pt x="0" y="5259313"/>
                </a:lnTo>
                <a:lnTo>
                  <a:pt x="4484760" y="5259313"/>
                </a:lnTo>
                <a:lnTo>
                  <a:pt x="44847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2D67C9-0DCA-0E47-3850-1ADA7A0C1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602" y="2857500"/>
            <a:ext cx="7742583" cy="4343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05555A-53C9-5896-0DBA-72DE98EBF6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723900"/>
            <a:ext cx="6629400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406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4109" y="-402011"/>
            <a:ext cx="7363743" cy="5257431"/>
            <a:chOff x="0" y="0"/>
            <a:chExt cx="1247949" cy="8909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7949" cy="890988"/>
            </a:xfrm>
            <a:custGeom>
              <a:avLst/>
              <a:gdLst/>
              <a:ahLst/>
              <a:cxnLst/>
              <a:rect l="l" t="t" r="r" b="b"/>
              <a:pathLst>
                <a:path w="1247949" h="890988">
                  <a:moveTo>
                    <a:pt x="46260" y="0"/>
                  </a:moveTo>
                  <a:lnTo>
                    <a:pt x="1201689" y="0"/>
                  </a:lnTo>
                  <a:cubicBezTo>
                    <a:pt x="1227238" y="0"/>
                    <a:pt x="1247949" y="20711"/>
                    <a:pt x="1247949" y="46260"/>
                  </a:cubicBezTo>
                  <a:lnTo>
                    <a:pt x="1247949" y="844728"/>
                  </a:lnTo>
                  <a:cubicBezTo>
                    <a:pt x="1247949" y="870277"/>
                    <a:pt x="1227238" y="890988"/>
                    <a:pt x="1201689" y="890988"/>
                  </a:cubicBezTo>
                  <a:lnTo>
                    <a:pt x="46260" y="890988"/>
                  </a:lnTo>
                  <a:cubicBezTo>
                    <a:pt x="20711" y="890988"/>
                    <a:pt x="0" y="870277"/>
                    <a:pt x="0" y="844728"/>
                  </a:cubicBezTo>
                  <a:lnTo>
                    <a:pt x="0" y="46260"/>
                  </a:lnTo>
                  <a:cubicBezTo>
                    <a:pt x="0" y="20711"/>
                    <a:pt x="20711" y="0"/>
                    <a:pt x="46260" y="0"/>
                  </a:cubicBezTo>
                  <a:close/>
                </a:path>
              </a:pathLst>
            </a:custGeom>
            <a:blipFill>
              <a:blip r:embed="rId2"/>
              <a:stretch>
                <a:fillRect l="-3498" r="-349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54433" y="2226704"/>
            <a:ext cx="6740099" cy="3753350"/>
            <a:chOff x="0" y="0"/>
            <a:chExt cx="1142259" cy="63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2259" cy="636088"/>
            </a:xfrm>
            <a:custGeom>
              <a:avLst/>
              <a:gdLst/>
              <a:ahLst/>
              <a:cxnLst/>
              <a:rect l="l" t="t" r="r" b="b"/>
              <a:pathLst>
                <a:path w="1142259" h="636088">
                  <a:moveTo>
                    <a:pt x="50540" y="0"/>
                  </a:moveTo>
                  <a:lnTo>
                    <a:pt x="1091719" y="0"/>
                  </a:lnTo>
                  <a:cubicBezTo>
                    <a:pt x="1119631" y="0"/>
                    <a:pt x="1142259" y="22628"/>
                    <a:pt x="1142259" y="50540"/>
                  </a:cubicBezTo>
                  <a:lnTo>
                    <a:pt x="1142259" y="585548"/>
                  </a:lnTo>
                  <a:cubicBezTo>
                    <a:pt x="1142259" y="598952"/>
                    <a:pt x="1136934" y="611807"/>
                    <a:pt x="1127456" y="621285"/>
                  </a:cubicBezTo>
                  <a:cubicBezTo>
                    <a:pt x="1117978" y="630763"/>
                    <a:pt x="1105123" y="636088"/>
                    <a:pt x="1091719" y="636088"/>
                  </a:cubicBezTo>
                  <a:lnTo>
                    <a:pt x="50540" y="636088"/>
                  </a:lnTo>
                  <a:cubicBezTo>
                    <a:pt x="37136" y="636088"/>
                    <a:pt x="24281" y="630763"/>
                    <a:pt x="14803" y="621285"/>
                  </a:cubicBezTo>
                  <a:cubicBezTo>
                    <a:pt x="5325" y="611807"/>
                    <a:pt x="0" y="598952"/>
                    <a:pt x="0" y="585548"/>
                  </a:cubicBezTo>
                  <a:lnTo>
                    <a:pt x="0" y="50540"/>
                  </a:lnTo>
                  <a:cubicBezTo>
                    <a:pt x="0" y="22628"/>
                    <a:pt x="22628" y="0"/>
                    <a:pt x="50540" y="0"/>
                  </a:cubicBezTo>
                  <a:close/>
                </a:path>
              </a:pathLst>
            </a:custGeom>
            <a:blipFill>
              <a:blip r:embed="rId3"/>
              <a:stretch>
                <a:fillRect t="-1260" b="-126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54433" y="6762293"/>
            <a:ext cx="6320730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Three Sections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347" y="5398988"/>
            <a:ext cx="4983511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s.11: a condition gives a right to reject, a warranty only damages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347" y="6752768"/>
            <a:ext cx="4983511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s.13: in a sale by description, the goods must match the description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347" y="8102143"/>
            <a:ext cx="4983511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s.14(4): parties may make a quality term an express condition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303108" y="5433512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2" y="0"/>
                </a:lnTo>
                <a:lnTo>
                  <a:pt x="667152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303108" y="6787291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2" y="0"/>
                </a:lnTo>
                <a:lnTo>
                  <a:pt x="667152" y="667152"/>
                </a:lnTo>
                <a:lnTo>
                  <a:pt x="0" y="667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303108" y="8136666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2" y="0"/>
                </a:lnTo>
                <a:lnTo>
                  <a:pt x="667152" y="667152"/>
                </a:lnTo>
                <a:lnTo>
                  <a:pt x="0" y="667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-228159" y="8470242"/>
            <a:ext cx="4905264" cy="5752442"/>
          </a:xfrm>
          <a:custGeom>
            <a:avLst/>
            <a:gdLst/>
            <a:ahLst/>
            <a:cxnLst/>
            <a:rect l="l" t="t" r="r" b="b"/>
            <a:pathLst>
              <a:path w="4905264" h="5752442">
                <a:moveTo>
                  <a:pt x="0" y="0"/>
                </a:moveTo>
                <a:lnTo>
                  <a:pt x="4905264" y="0"/>
                </a:lnTo>
                <a:lnTo>
                  <a:pt x="4905264" y="5752442"/>
                </a:lnTo>
                <a:lnTo>
                  <a:pt x="0" y="5752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930164" y="1350169"/>
            <a:ext cx="2746941" cy="454494"/>
          </a:xfrm>
          <a:custGeom>
            <a:avLst/>
            <a:gdLst/>
            <a:ahLst/>
            <a:cxnLst/>
            <a:rect l="l" t="t" r="r" b="b"/>
            <a:pathLst>
              <a:path w="2746941" h="454494">
                <a:moveTo>
                  <a:pt x="0" y="0"/>
                </a:moveTo>
                <a:lnTo>
                  <a:pt x="2746941" y="0"/>
                </a:lnTo>
                <a:lnTo>
                  <a:pt x="2746941" y="454494"/>
                </a:lnTo>
                <a:lnTo>
                  <a:pt x="0" y="454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4181426" y="1350169"/>
            <a:ext cx="2746941" cy="454494"/>
          </a:xfrm>
          <a:custGeom>
            <a:avLst/>
            <a:gdLst/>
            <a:ahLst/>
            <a:cxnLst/>
            <a:rect l="l" t="t" r="r" b="b"/>
            <a:pathLst>
              <a:path w="2746941" h="454494">
                <a:moveTo>
                  <a:pt x="0" y="0"/>
                </a:moveTo>
                <a:lnTo>
                  <a:pt x="2746941" y="0"/>
                </a:lnTo>
                <a:lnTo>
                  <a:pt x="2746941" y="454494"/>
                </a:lnTo>
                <a:lnTo>
                  <a:pt x="0" y="454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291" y="-3389275"/>
            <a:ext cx="4484760" cy="5259313"/>
          </a:xfrm>
          <a:custGeom>
            <a:avLst/>
            <a:gdLst/>
            <a:ahLst/>
            <a:cxnLst/>
            <a:rect l="l" t="t" r="r" b="b"/>
            <a:pathLst>
              <a:path w="4484760" h="5259313">
                <a:moveTo>
                  <a:pt x="0" y="0"/>
                </a:moveTo>
                <a:lnTo>
                  <a:pt x="4484760" y="0"/>
                </a:lnTo>
                <a:lnTo>
                  <a:pt x="4484760" y="5259313"/>
                </a:lnTo>
                <a:lnTo>
                  <a:pt x="0" y="5259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7032581" cy="10287000"/>
            <a:chOff x="0" y="0"/>
            <a:chExt cx="1191826" cy="1743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91826" cy="1743359"/>
            </a:xfrm>
            <a:custGeom>
              <a:avLst/>
              <a:gdLst/>
              <a:ahLst/>
              <a:cxnLst/>
              <a:rect l="l" t="t" r="r" b="b"/>
              <a:pathLst>
                <a:path w="1191826" h="1743359">
                  <a:moveTo>
                    <a:pt x="0" y="0"/>
                  </a:moveTo>
                  <a:lnTo>
                    <a:pt x="1191826" y="0"/>
                  </a:lnTo>
                  <a:lnTo>
                    <a:pt x="1191826" y="1743359"/>
                  </a:lnTo>
                  <a:lnTo>
                    <a:pt x="0" y="1743359"/>
                  </a:lnTo>
                  <a:close/>
                </a:path>
              </a:pathLst>
            </a:custGeom>
            <a:blipFill>
              <a:blip r:embed="rId3"/>
              <a:stretch>
                <a:fillRect l="-59570" r="-595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43484" y="7305272"/>
            <a:ext cx="6967636" cy="1719182"/>
            <a:chOff x="0" y="0"/>
            <a:chExt cx="1835097" cy="4527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09687" y="7305272"/>
            <a:ext cx="6967636" cy="1719182"/>
            <a:chOff x="0" y="0"/>
            <a:chExt cx="1835097" cy="4527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443484" y="5143500"/>
            <a:ext cx="6967636" cy="1719182"/>
            <a:chOff x="0" y="0"/>
            <a:chExt cx="1835097" cy="4527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09687" y="5143500"/>
            <a:ext cx="6967636" cy="1719182"/>
            <a:chOff x="0" y="0"/>
            <a:chExt cx="1835097" cy="4527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2766936" y="7828001"/>
            <a:ext cx="673725" cy="673725"/>
          </a:xfrm>
          <a:custGeom>
            <a:avLst/>
            <a:gdLst/>
            <a:ahLst/>
            <a:cxnLst/>
            <a:rect l="l" t="t" r="r" b="b"/>
            <a:pathLst>
              <a:path w="673725" h="673725">
                <a:moveTo>
                  <a:pt x="0" y="0"/>
                </a:moveTo>
                <a:lnTo>
                  <a:pt x="673725" y="0"/>
                </a:lnTo>
                <a:lnTo>
                  <a:pt x="673725" y="673725"/>
                </a:lnTo>
                <a:lnTo>
                  <a:pt x="0" y="673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333139" y="7828001"/>
            <a:ext cx="673725" cy="673725"/>
          </a:xfrm>
          <a:custGeom>
            <a:avLst/>
            <a:gdLst/>
            <a:ahLst/>
            <a:cxnLst/>
            <a:rect l="l" t="t" r="r" b="b"/>
            <a:pathLst>
              <a:path w="673725" h="673725">
                <a:moveTo>
                  <a:pt x="0" y="0"/>
                </a:moveTo>
                <a:lnTo>
                  <a:pt x="673725" y="0"/>
                </a:lnTo>
                <a:lnTo>
                  <a:pt x="673725" y="673725"/>
                </a:lnTo>
                <a:lnTo>
                  <a:pt x="0" y="673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2766936" y="5666229"/>
            <a:ext cx="673725" cy="673725"/>
          </a:xfrm>
          <a:custGeom>
            <a:avLst/>
            <a:gdLst/>
            <a:ahLst/>
            <a:cxnLst/>
            <a:rect l="l" t="t" r="r" b="b"/>
            <a:pathLst>
              <a:path w="673725" h="673725">
                <a:moveTo>
                  <a:pt x="0" y="0"/>
                </a:moveTo>
                <a:lnTo>
                  <a:pt x="673725" y="0"/>
                </a:lnTo>
                <a:lnTo>
                  <a:pt x="673725" y="673725"/>
                </a:lnTo>
                <a:lnTo>
                  <a:pt x="0" y="673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0333139" y="5666229"/>
            <a:ext cx="673725" cy="673725"/>
          </a:xfrm>
          <a:custGeom>
            <a:avLst/>
            <a:gdLst/>
            <a:ahLst/>
            <a:cxnLst/>
            <a:rect l="l" t="t" r="r" b="b"/>
            <a:pathLst>
              <a:path w="673725" h="673725">
                <a:moveTo>
                  <a:pt x="0" y="0"/>
                </a:moveTo>
                <a:lnTo>
                  <a:pt x="673725" y="0"/>
                </a:lnTo>
                <a:lnTo>
                  <a:pt x="673725" y="673725"/>
                </a:lnTo>
                <a:lnTo>
                  <a:pt x="0" y="673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7846499" y="2218055"/>
            <a:ext cx="6320730" cy="192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The Two Cases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04620" y="7850538"/>
            <a:ext cx="499080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PROTON: specs move on a voyage, rejection is uncommercial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70824" y="7850538"/>
            <a:ext cx="499080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PROTON: the spec sits in the Quality clause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04620" y="5688766"/>
            <a:ext cx="499080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ORLEN: only the spec identifies this cargo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70824" y="5688766"/>
            <a:ext cx="499080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ORLEN: slight discrepancy, right to reject</a:t>
            </a:r>
          </a:p>
        </p:txBody>
      </p:sp>
      <p:sp>
        <p:nvSpPr>
          <p:cNvPr id="26" name="Freeform 26"/>
          <p:cNvSpPr/>
          <p:nvPr/>
        </p:nvSpPr>
        <p:spPr>
          <a:xfrm>
            <a:off x="15597245" y="891203"/>
            <a:ext cx="1662055" cy="274994"/>
          </a:xfrm>
          <a:custGeom>
            <a:avLst/>
            <a:gdLst/>
            <a:ahLst/>
            <a:cxnLst/>
            <a:rect l="l" t="t" r="r" b="b"/>
            <a:pathLst>
              <a:path w="1662055" h="274994">
                <a:moveTo>
                  <a:pt x="0" y="0"/>
                </a:moveTo>
                <a:lnTo>
                  <a:pt x="1662055" y="0"/>
                </a:lnTo>
                <a:lnTo>
                  <a:pt x="1662055" y="274994"/>
                </a:lnTo>
                <a:lnTo>
                  <a:pt x="0" y="2749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6428273" y="2730633"/>
            <a:ext cx="3086100" cy="848431"/>
            <a:chOff x="0" y="0"/>
            <a:chExt cx="812800" cy="22345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223455"/>
            </a:xfrm>
            <a:custGeom>
              <a:avLst/>
              <a:gdLst/>
              <a:ahLst/>
              <a:cxnLst/>
              <a:rect l="l" t="t" r="r" b="b"/>
              <a:pathLst>
                <a:path w="812800" h="223455">
                  <a:moveTo>
                    <a:pt x="111728" y="0"/>
                  </a:moveTo>
                  <a:lnTo>
                    <a:pt x="701072" y="0"/>
                  </a:lnTo>
                  <a:cubicBezTo>
                    <a:pt x="762778" y="0"/>
                    <a:pt x="812800" y="50022"/>
                    <a:pt x="812800" y="111728"/>
                  </a:cubicBezTo>
                  <a:lnTo>
                    <a:pt x="812800" y="111728"/>
                  </a:lnTo>
                  <a:cubicBezTo>
                    <a:pt x="812800" y="141360"/>
                    <a:pt x="801029" y="169778"/>
                    <a:pt x="780076" y="190731"/>
                  </a:cubicBezTo>
                  <a:cubicBezTo>
                    <a:pt x="759123" y="211684"/>
                    <a:pt x="730704" y="223455"/>
                    <a:pt x="701072" y="223455"/>
                  </a:cubicBezTo>
                  <a:lnTo>
                    <a:pt x="111728" y="223455"/>
                  </a:lnTo>
                  <a:cubicBezTo>
                    <a:pt x="50022" y="223455"/>
                    <a:pt x="0" y="173433"/>
                    <a:pt x="0" y="111728"/>
                  </a:cubicBezTo>
                  <a:lnTo>
                    <a:pt x="0" y="111728"/>
                  </a:lnTo>
                  <a:cubicBezTo>
                    <a:pt x="0" y="50022"/>
                    <a:pt x="50022" y="0"/>
                    <a:pt x="111728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812800" cy="232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6695953" y="2912802"/>
            <a:ext cx="484094" cy="484094"/>
          </a:xfrm>
          <a:custGeom>
            <a:avLst/>
            <a:gdLst/>
            <a:ahLst/>
            <a:cxnLst/>
            <a:rect l="l" t="t" r="r" b="b"/>
            <a:pathLst>
              <a:path w="484094" h="484094">
                <a:moveTo>
                  <a:pt x="0" y="0"/>
                </a:moveTo>
                <a:lnTo>
                  <a:pt x="484095" y="0"/>
                </a:lnTo>
                <a:lnTo>
                  <a:pt x="484095" y="484094"/>
                </a:lnTo>
                <a:lnTo>
                  <a:pt x="0" y="4840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4372233"/>
            <a:ext cx="7559235" cy="6399302"/>
            <a:chOff x="0" y="0"/>
            <a:chExt cx="1990910" cy="16854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90910" cy="1685413"/>
            </a:xfrm>
            <a:custGeom>
              <a:avLst/>
              <a:gdLst/>
              <a:ahLst/>
              <a:cxnLst/>
              <a:rect l="l" t="t" r="r" b="b"/>
              <a:pathLst>
                <a:path w="1990910" h="1685413">
                  <a:moveTo>
                    <a:pt x="52233" y="0"/>
                  </a:moveTo>
                  <a:lnTo>
                    <a:pt x="1938677" y="0"/>
                  </a:lnTo>
                  <a:cubicBezTo>
                    <a:pt x="1952530" y="0"/>
                    <a:pt x="1965816" y="5503"/>
                    <a:pt x="1975611" y="15299"/>
                  </a:cubicBezTo>
                  <a:cubicBezTo>
                    <a:pt x="1985407" y="25094"/>
                    <a:pt x="1990910" y="38380"/>
                    <a:pt x="1990910" y="52233"/>
                  </a:cubicBezTo>
                  <a:lnTo>
                    <a:pt x="1990910" y="1633180"/>
                  </a:lnTo>
                  <a:cubicBezTo>
                    <a:pt x="1990910" y="1647033"/>
                    <a:pt x="1985407" y="1660319"/>
                    <a:pt x="1975611" y="1670114"/>
                  </a:cubicBezTo>
                  <a:cubicBezTo>
                    <a:pt x="1965816" y="1679910"/>
                    <a:pt x="1952530" y="1685413"/>
                    <a:pt x="1938677" y="1685413"/>
                  </a:cubicBezTo>
                  <a:lnTo>
                    <a:pt x="52233" y="1685413"/>
                  </a:lnTo>
                  <a:cubicBezTo>
                    <a:pt x="38380" y="1685413"/>
                    <a:pt x="25094" y="1679910"/>
                    <a:pt x="15299" y="1670114"/>
                  </a:cubicBezTo>
                  <a:cubicBezTo>
                    <a:pt x="5503" y="1660319"/>
                    <a:pt x="0" y="1647033"/>
                    <a:pt x="0" y="1633180"/>
                  </a:cubicBezTo>
                  <a:lnTo>
                    <a:pt x="0" y="52233"/>
                  </a:lnTo>
                  <a:cubicBezTo>
                    <a:pt x="0" y="38380"/>
                    <a:pt x="5503" y="25094"/>
                    <a:pt x="15299" y="15299"/>
                  </a:cubicBezTo>
                  <a:cubicBezTo>
                    <a:pt x="25094" y="5503"/>
                    <a:pt x="38380" y="0"/>
                    <a:pt x="52233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90910" cy="1733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918066" y="5288974"/>
            <a:ext cx="673725" cy="673725"/>
          </a:xfrm>
          <a:custGeom>
            <a:avLst/>
            <a:gdLst/>
            <a:ahLst/>
            <a:cxnLst/>
            <a:rect l="l" t="t" r="r" b="b"/>
            <a:pathLst>
              <a:path w="673725" h="673725">
                <a:moveTo>
                  <a:pt x="0" y="0"/>
                </a:moveTo>
                <a:lnTo>
                  <a:pt x="673725" y="0"/>
                </a:lnTo>
                <a:lnTo>
                  <a:pt x="673725" y="673725"/>
                </a:lnTo>
                <a:lnTo>
                  <a:pt x="0" y="673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918066" y="6753440"/>
            <a:ext cx="673725" cy="673725"/>
          </a:xfrm>
          <a:custGeom>
            <a:avLst/>
            <a:gdLst/>
            <a:ahLst/>
            <a:cxnLst/>
            <a:rect l="l" t="t" r="r" b="b"/>
            <a:pathLst>
              <a:path w="673725" h="673725">
                <a:moveTo>
                  <a:pt x="0" y="0"/>
                </a:moveTo>
                <a:lnTo>
                  <a:pt x="673725" y="0"/>
                </a:lnTo>
                <a:lnTo>
                  <a:pt x="673725" y="673725"/>
                </a:lnTo>
                <a:lnTo>
                  <a:pt x="0" y="673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918066" y="8440969"/>
            <a:ext cx="673725" cy="673725"/>
          </a:xfrm>
          <a:custGeom>
            <a:avLst/>
            <a:gdLst/>
            <a:ahLst/>
            <a:cxnLst/>
            <a:rect l="l" t="t" r="r" b="b"/>
            <a:pathLst>
              <a:path w="673725" h="673725">
                <a:moveTo>
                  <a:pt x="0" y="0"/>
                </a:moveTo>
                <a:lnTo>
                  <a:pt x="673725" y="0"/>
                </a:lnTo>
                <a:lnTo>
                  <a:pt x="673725" y="673724"/>
                </a:lnTo>
                <a:lnTo>
                  <a:pt x="0" y="673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-4602395" y="2208588"/>
            <a:ext cx="7559235" cy="6134563"/>
            <a:chOff x="0" y="0"/>
            <a:chExt cx="1990910" cy="16156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0910" cy="1615687"/>
            </a:xfrm>
            <a:custGeom>
              <a:avLst/>
              <a:gdLst/>
              <a:ahLst/>
              <a:cxnLst/>
              <a:rect l="l" t="t" r="r" b="b"/>
              <a:pathLst>
                <a:path w="1990910" h="1615687">
                  <a:moveTo>
                    <a:pt x="52233" y="0"/>
                  </a:moveTo>
                  <a:lnTo>
                    <a:pt x="1938677" y="0"/>
                  </a:lnTo>
                  <a:cubicBezTo>
                    <a:pt x="1952530" y="0"/>
                    <a:pt x="1965816" y="5503"/>
                    <a:pt x="1975611" y="15299"/>
                  </a:cubicBezTo>
                  <a:cubicBezTo>
                    <a:pt x="1985407" y="25094"/>
                    <a:pt x="1990910" y="38380"/>
                    <a:pt x="1990910" y="52233"/>
                  </a:cubicBezTo>
                  <a:lnTo>
                    <a:pt x="1990910" y="1563455"/>
                  </a:lnTo>
                  <a:cubicBezTo>
                    <a:pt x="1990910" y="1577308"/>
                    <a:pt x="1985407" y="1590593"/>
                    <a:pt x="1975611" y="1600389"/>
                  </a:cubicBezTo>
                  <a:cubicBezTo>
                    <a:pt x="1965816" y="1610184"/>
                    <a:pt x="1952530" y="1615687"/>
                    <a:pt x="1938677" y="1615687"/>
                  </a:cubicBezTo>
                  <a:lnTo>
                    <a:pt x="52233" y="1615687"/>
                  </a:lnTo>
                  <a:cubicBezTo>
                    <a:pt x="38380" y="1615687"/>
                    <a:pt x="25094" y="1610184"/>
                    <a:pt x="15299" y="1600389"/>
                  </a:cubicBezTo>
                  <a:cubicBezTo>
                    <a:pt x="5503" y="1590593"/>
                    <a:pt x="0" y="1577308"/>
                    <a:pt x="0" y="1563455"/>
                  </a:cubicBezTo>
                  <a:lnTo>
                    <a:pt x="0" y="52233"/>
                  </a:lnTo>
                  <a:cubicBezTo>
                    <a:pt x="0" y="38380"/>
                    <a:pt x="5503" y="25094"/>
                    <a:pt x="15299" y="15299"/>
                  </a:cubicBezTo>
                  <a:cubicBezTo>
                    <a:pt x="25094" y="5503"/>
                    <a:pt x="38380" y="0"/>
                    <a:pt x="52233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990910" cy="1663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6061" y="1694438"/>
            <a:ext cx="7054064" cy="3368622"/>
            <a:chOff x="0" y="0"/>
            <a:chExt cx="1195467" cy="5708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95467" cy="570887"/>
            </a:xfrm>
            <a:custGeom>
              <a:avLst/>
              <a:gdLst/>
              <a:ahLst/>
              <a:cxnLst/>
              <a:rect l="l" t="t" r="r" b="b"/>
              <a:pathLst>
                <a:path w="1195467" h="570887">
                  <a:moveTo>
                    <a:pt x="48291" y="0"/>
                  </a:moveTo>
                  <a:lnTo>
                    <a:pt x="1147176" y="0"/>
                  </a:lnTo>
                  <a:cubicBezTo>
                    <a:pt x="1173846" y="0"/>
                    <a:pt x="1195467" y="21620"/>
                    <a:pt x="1195467" y="48291"/>
                  </a:cubicBezTo>
                  <a:lnTo>
                    <a:pt x="1195467" y="522597"/>
                  </a:lnTo>
                  <a:cubicBezTo>
                    <a:pt x="1195467" y="535404"/>
                    <a:pt x="1190379" y="547687"/>
                    <a:pt x="1181323" y="556743"/>
                  </a:cubicBezTo>
                  <a:cubicBezTo>
                    <a:pt x="1172267" y="565800"/>
                    <a:pt x="1159984" y="570887"/>
                    <a:pt x="1147176" y="570887"/>
                  </a:cubicBezTo>
                  <a:lnTo>
                    <a:pt x="48291" y="570887"/>
                  </a:lnTo>
                  <a:cubicBezTo>
                    <a:pt x="35483" y="570887"/>
                    <a:pt x="23200" y="565800"/>
                    <a:pt x="14144" y="556743"/>
                  </a:cubicBezTo>
                  <a:cubicBezTo>
                    <a:pt x="5088" y="547687"/>
                    <a:pt x="0" y="535404"/>
                    <a:pt x="0" y="522597"/>
                  </a:cubicBezTo>
                  <a:lnTo>
                    <a:pt x="0" y="48291"/>
                  </a:lnTo>
                  <a:cubicBezTo>
                    <a:pt x="0" y="35483"/>
                    <a:pt x="5088" y="23200"/>
                    <a:pt x="14144" y="14144"/>
                  </a:cubicBezTo>
                  <a:cubicBezTo>
                    <a:pt x="23200" y="5088"/>
                    <a:pt x="35483" y="0"/>
                    <a:pt x="48291" y="0"/>
                  </a:cubicBezTo>
                  <a:close/>
                </a:path>
              </a:pathLst>
            </a:custGeom>
            <a:blipFill>
              <a:blip r:embed="rId3"/>
              <a:stretch>
                <a:fillRect t="-8764" b="-876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66061" y="5625837"/>
            <a:ext cx="7054064" cy="3151994"/>
            <a:chOff x="0" y="0"/>
            <a:chExt cx="1195467" cy="5341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95467" cy="534175"/>
            </a:xfrm>
            <a:custGeom>
              <a:avLst/>
              <a:gdLst/>
              <a:ahLst/>
              <a:cxnLst/>
              <a:rect l="l" t="t" r="r" b="b"/>
              <a:pathLst>
                <a:path w="1195467" h="534175">
                  <a:moveTo>
                    <a:pt x="48291" y="0"/>
                  </a:moveTo>
                  <a:lnTo>
                    <a:pt x="1147176" y="0"/>
                  </a:lnTo>
                  <a:cubicBezTo>
                    <a:pt x="1173846" y="0"/>
                    <a:pt x="1195467" y="21620"/>
                    <a:pt x="1195467" y="48291"/>
                  </a:cubicBezTo>
                  <a:lnTo>
                    <a:pt x="1195467" y="485885"/>
                  </a:lnTo>
                  <a:cubicBezTo>
                    <a:pt x="1195467" y="498692"/>
                    <a:pt x="1190379" y="510975"/>
                    <a:pt x="1181323" y="520031"/>
                  </a:cubicBezTo>
                  <a:cubicBezTo>
                    <a:pt x="1172267" y="529087"/>
                    <a:pt x="1159984" y="534175"/>
                    <a:pt x="1147176" y="534175"/>
                  </a:cubicBezTo>
                  <a:lnTo>
                    <a:pt x="48291" y="534175"/>
                  </a:lnTo>
                  <a:cubicBezTo>
                    <a:pt x="21620" y="534175"/>
                    <a:pt x="0" y="512555"/>
                    <a:pt x="0" y="485885"/>
                  </a:cubicBezTo>
                  <a:lnTo>
                    <a:pt x="0" y="48291"/>
                  </a:lnTo>
                  <a:cubicBezTo>
                    <a:pt x="0" y="35483"/>
                    <a:pt x="5088" y="23200"/>
                    <a:pt x="14144" y="14144"/>
                  </a:cubicBezTo>
                  <a:cubicBezTo>
                    <a:pt x="23200" y="5088"/>
                    <a:pt x="35483" y="0"/>
                    <a:pt x="48291" y="0"/>
                  </a:cubicBezTo>
                  <a:close/>
                </a:path>
              </a:pathLst>
            </a:custGeom>
            <a:blipFill>
              <a:blip r:embed="rId4"/>
              <a:stretch>
                <a:fillRect t="-12802" b="-128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812180" y="1656338"/>
            <a:ext cx="6134371" cy="192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Where the Spec Sat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55750" y="5463912"/>
            <a:ext cx="499080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Clause 3 "Product": Oil Blend, CN 2710, the description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55750" y="6775977"/>
            <a:ext cx="499080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Clause 4 "Quality": the SGS loadport analysis, and the spec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55750" y="8463506"/>
            <a:ext cx="499080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Tradax and R G Grain: a limit under a quality heading is quality</a:t>
            </a:r>
          </a:p>
        </p:txBody>
      </p:sp>
      <p:sp>
        <p:nvSpPr>
          <p:cNvPr id="19" name="Freeform 19"/>
          <p:cNvSpPr/>
          <p:nvPr/>
        </p:nvSpPr>
        <p:spPr>
          <a:xfrm flipH="1">
            <a:off x="14122626" y="-3670879"/>
            <a:ext cx="5652311" cy="6628510"/>
          </a:xfrm>
          <a:custGeom>
            <a:avLst/>
            <a:gdLst/>
            <a:ahLst/>
            <a:cxnLst/>
            <a:rect l="l" t="t" r="r" b="b"/>
            <a:pathLst>
              <a:path w="5652311" h="6628510">
                <a:moveTo>
                  <a:pt x="5652311" y="0"/>
                </a:moveTo>
                <a:lnTo>
                  <a:pt x="0" y="0"/>
                </a:lnTo>
                <a:lnTo>
                  <a:pt x="0" y="6628510"/>
                </a:lnTo>
                <a:lnTo>
                  <a:pt x="5652311" y="6628510"/>
                </a:lnTo>
                <a:lnTo>
                  <a:pt x="565231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89936" y="2266146"/>
            <a:ext cx="7054064" cy="6416760"/>
            <a:chOff x="0" y="0"/>
            <a:chExt cx="1195467" cy="10874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5467" cy="1087462"/>
            </a:xfrm>
            <a:custGeom>
              <a:avLst/>
              <a:gdLst/>
              <a:ahLst/>
              <a:cxnLst/>
              <a:rect l="l" t="t" r="r" b="b"/>
              <a:pathLst>
                <a:path w="1195467" h="1087462">
                  <a:moveTo>
                    <a:pt x="48291" y="0"/>
                  </a:moveTo>
                  <a:lnTo>
                    <a:pt x="1147176" y="0"/>
                  </a:lnTo>
                  <a:cubicBezTo>
                    <a:pt x="1173846" y="0"/>
                    <a:pt x="1195467" y="21620"/>
                    <a:pt x="1195467" y="48291"/>
                  </a:cubicBezTo>
                  <a:lnTo>
                    <a:pt x="1195467" y="1039171"/>
                  </a:lnTo>
                  <a:cubicBezTo>
                    <a:pt x="1195467" y="1051979"/>
                    <a:pt x="1190379" y="1064261"/>
                    <a:pt x="1181323" y="1073318"/>
                  </a:cubicBezTo>
                  <a:cubicBezTo>
                    <a:pt x="1172267" y="1082374"/>
                    <a:pt x="1159984" y="1087462"/>
                    <a:pt x="1147176" y="1087462"/>
                  </a:cubicBezTo>
                  <a:lnTo>
                    <a:pt x="48291" y="1087462"/>
                  </a:lnTo>
                  <a:cubicBezTo>
                    <a:pt x="35483" y="1087462"/>
                    <a:pt x="23200" y="1082374"/>
                    <a:pt x="14144" y="1073318"/>
                  </a:cubicBezTo>
                  <a:cubicBezTo>
                    <a:pt x="5088" y="1064261"/>
                    <a:pt x="0" y="1051979"/>
                    <a:pt x="0" y="1039171"/>
                  </a:cubicBezTo>
                  <a:lnTo>
                    <a:pt x="0" y="48291"/>
                  </a:lnTo>
                  <a:cubicBezTo>
                    <a:pt x="0" y="35483"/>
                    <a:pt x="5088" y="23200"/>
                    <a:pt x="14144" y="14144"/>
                  </a:cubicBezTo>
                  <a:cubicBezTo>
                    <a:pt x="23200" y="5088"/>
                    <a:pt x="35483" y="0"/>
                    <a:pt x="48291" y="0"/>
                  </a:cubicBezTo>
                  <a:close/>
                </a:path>
              </a:pathLst>
            </a:custGeom>
            <a:blipFill>
              <a:blip r:embed="rId2"/>
              <a:stretch>
                <a:fillRect l="-18162" r="-181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29621" y="1579608"/>
            <a:ext cx="6967636" cy="1719182"/>
            <a:chOff x="0" y="0"/>
            <a:chExt cx="1835097" cy="452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3074" y="2130110"/>
            <a:ext cx="673725" cy="673725"/>
          </a:xfrm>
          <a:custGeom>
            <a:avLst/>
            <a:gdLst/>
            <a:ahLst/>
            <a:cxnLst/>
            <a:rect l="l" t="t" r="r" b="b"/>
            <a:pathLst>
              <a:path w="673725" h="673725">
                <a:moveTo>
                  <a:pt x="0" y="0"/>
                </a:moveTo>
                <a:lnTo>
                  <a:pt x="673725" y="0"/>
                </a:lnTo>
                <a:lnTo>
                  <a:pt x="673725" y="673725"/>
                </a:lnTo>
                <a:lnTo>
                  <a:pt x="0" y="673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844856" y="7062571"/>
            <a:ext cx="6967636" cy="1719182"/>
            <a:chOff x="0" y="0"/>
            <a:chExt cx="1835097" cy="4527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44856" y="4898713"/>
            <a:ext cx="6967636" cy="1719182"/>
            <a:chOff x="0" y="0"/>
            <a:chExt cx="1835097" cy="4527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168309" y="7613073"/>
            <a:ext cx="673725" cy="673725"/>
          </a:xfrm>
          <a:custGeom>
            <a:avLst/>
            <a:gdLst/>
            <a:ahLst/>
            <a:cxnLst/>
            <a:rect l="l" t="t" r="r" b="b"/>
            <a:pathLst>
              <a:path w="673725" h="673725">
                <a:moveTo>
                  <a:pt x="0" y="0"/>
                </a:moveTo>
                <a:lnTo>
                  <a:pt x="673724" y="0"/>
                </a:lnTo>
                <a:lnTo>
                  <a:pt x="673724" y="673724"/>
                </a:lnTo>
                <a:lnTo>
                  <a:pt x="0" y="673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0168309" y="5449215"/>
            <a:ext cx="673725" cy="673725"/>
          </a:xfrm>
          <a:custGeom>
            <a:avLst/>
            <a:gdLst/>
            <a:ahLst/>
            <a:cxnLst/>
            <a:rect l="l" t="t" r="r" b="b"/>
            <a:pathLst>
              <a:path w="673725" h="673725">
                <a:moveTo>
                  <a:pt x="0" y="0"/>
                </a:moveTo>
                <a:lnTo>
                  <a:pt x="673724" y="0"/>
                </a:lnTo>
                <a:lnTo>
                  <a:pt x="673724" y="673725"/>
                </a:lnTo>
                <a:lnTo>
                  <a:pt x="0" y="673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2790758" y="2152648"/>
            <a:ext cx="499080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Hands up, and commit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28999" y="2396787"/>
            <a:ext cx="6320730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Could Orlen Reject?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05993" y="7635610"/>
            <a:ext cx="499080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No: it is only a matter of quality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05993" y="5471752"/>
            <a:ext cx="499080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Yes: the specification is description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28999" y="1457622"/>
            <a:ext cx="473008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Before the ruling</a:t>
            </a:r>
          </a:p>
        </p:txBody>
      </p:sp>
      <p:sp>
        <p:nvSpPr>
          <p:cNvPr id="21" name="Freeform 21"/>
          <p:cNvSpPr/>
          <p:nvPr/>
        </p:nvSpPr>
        <p:spPr>
          <a:xfrm flipH="1">
            <a:off x="15842580" y="-356030"/>
            <a:ext cx="4239999" cy="4972280"/>
          </a:xfrm>
          <a:custGeom>
            <a:avLst/>
            <a:gdLst/>
            <a:ahLst/>
            <a:cxnLst/>
            <a:rect l="l" t="t" r="r" b="b"/>
            <a:pathLst>
              <a:path w="4239999" h="4972280">
                <a:moveTo>
                  <a:pt x="4239998" y="0"/>
                </a:moveTo>
                <a:lnTo>
                  <a:pt x="0" y="0"/>
                </a:lnTo>
                <a:lnTo>
                  <a:pt x="0" y="4972280"/>
                </a:lnTo>
                <a:lnTo>
                  <a:pt x="4239998" y="4972280"/>
                </a:lnTo>
                <a:lnTo>
                  <a:pt x="423999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097125" y="9534249"/>
            <a:ext cx="835819" cy="62623"/>
            <a:chOff x="0" y="0"/>
            <a:chExt cx="220133" cy="164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0133" cy="16493"/>
            </a:xfrm>
            <a:custGeom>
              <a:avLst/>
              <a:gdLst/>
              <a:ahLst/>
              <a:cxnLst/>
              <a:rect l="l" t="t" r="r" b="b"/>
              <a:pathLst>
                <a:path w="220133" h="16493">
                  <a:moveTo>
                    <a:pt x="8247" y="0"/>
                  </a:moveTo>
                  <a:lnTo>
                    <a:pt x="211887" y="0"/>
                  </a:lnTo>
                  <a:cubicBezTo>
                    <a:pt x="214074" y="0"/>
                    <a:pt x="216171" y="869"/>
                    <a:pt x="217718" y="2415"/>
                  </a:cubicBezTo>
                  <a:cubicBezTo>
                    <a:pt x="219265" y="3962"/>
                    <a:pt x="220133" y="6060"/>
                    <a:pt x="220133" y="8247"/>
                  </a:cubicBezTo>
                  <a:lnTo>
                    <a:pt x="220133" y="8247"/>
                  </a:lnTo>
                  <a:cubicBezTo>
                    <a:pt x="220133" y="12801"/>
                    <a:pt x="216441" y="16493"/>
                    <a:pt x="211887" y="16493"/>
                  </a:cubicBezTo>
                  <a:lnTo>
                    <a:pt x="8247" y="16493"/>
                  </a:lnTo>
                  <a:cubicBezTo>
                    <a:pt x="6060" y="16493"/>
                    <a:pt x="3962" y="15625"/>
                    <a:pt x="2415" y="14078"/>
                  </a:cubicBezTo>
                  <a:cubicBezTo>
                    <a:pt x="869" y="12531"/>
                    <a:pt x="0" y="10434"/>
                    <a:pt x="0" y="8247"/>
                  </a:cubicBezTo>
                  <a:lnTo>
                    <a:pt x="0" y="8247"/>
                  </a:lnTo>
                  <a:cubicBezTo>
                    <a:pt x="0" y="6060"/>
                    <a:pt x="869" y="3962"/>
                    <a:pt x="2415" y="2415"/>
                  </a:cubicBezTo>
                  <a:cubicBezTo>
                    <a:pt x="3962" y="869"/>
                    <a:pt x="6060" y="0"/>
                    <a:pt x="8247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220133" cy="2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322633"/>
            <a:ext cx="6967636" cy="3326526"/>
            <a:chOff x="0" y="0"/>
            <a:chExt cx="1835097" cy="8761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35097" cy="876122"/>
            </a:xfrm>
            <a:custGeom>
              <a:avLst/>
              <a:gdLst/>
              <a:ahLst/>
              <a:cxnLst/>
              <a:rect l="l" t="t" r="r" b="b"/>
              <a:pathLst>
                <a:path w="1835097" h="876122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819455"/>
                  </a:lnTo>
                  <a:cubicBezTo>
                    <a:pt x="1835097" y="850751"/>
                    <a:pt x="1809727" y="876122"/>
                    <a:pt x="1778430" y="876122"/>
                  </a:cubicBezTo>
                  <a:lnTo>
                    <a:pt x="56667" y="876122"/>
                  </a:lnTo>
                  <a:cubicBezTo>
                    <a:pt x="41638" y="876122"/>
                    <a:pt x="27225" y="870152"/>
                    <a:pt x="16598" y="859525"/>
                  </a:cubicBezTo>
                  <a:cubicBezTo>
                    <a:pt x="5970" y="848897"/>
                    <a:pt x="0" y="834484"/>
                    <a:pt x="0" y="819455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35097" cy="923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89285" y="0"/>
            <a:ext cx="5041379" cy="10287000"/>
            <a:chOff x="0" y="0"/>
            <a:chExt cx="854373" cy="17433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4373" cy="1743359"/>
            </a:xfrm>
            <a:custGeom>
              <a:avLst/>
              <a:gdLst/>
              <a:ahLst/>
              <a:cxnLst/>
              <a:rect l="l" t="t" r="r" b="b"/>
              <a:pathLst>
                <a:path w="854373" h="1743359">
                  <a:moveTo>
                    <a:pt x="0" y="0"/>
                  </a:moveTo>
                  <a:lnTo>
                    <a:pt x="854373" y="0"/>
                  </a:lnTo>
                  <a:lnTo>
                    <a:pt x="854373" y="1743359"/>
                  </a:lnTo>
                  <a:lnTo>
                    <a:pt x="0" y="1743359"/>
                  </a:lnTo>
                  <a:close/>
                </a:path>
              </a:pathLst>
            </a:custGeom>
            <a:blipFill>
              <a:blip r:embed="rId2"/>
              <a:stretch>
                <a:fillRect l="-200050" r="-635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12638917" y="2773173"/>
            <a:ext cx="356913" cy="356913"/>
          </a:xfrm>
          <a:custGeom>
            <a:avLst/>
            <a:gdLst/>
            <a:ahLst/>
            <a:cxnLst/>
            <a:rect l="l" t="t" r="r" b="b"/>
            <a:pathLst>
              <a:path w="356913" h="356913">
                <a:moveTo>
                  <a:pt x="0" y="0"/>
                </a:moveTo>
                <a:lnTo>
                  <a:pt x="356914" y="0"/>
                </a:lnTo>
                <a:lnTo>
                  <a:pt x="356914" y="356913"/>
                </a:lnTo>
                <a:lnTo>
                  <a:pt x="0" y="356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638917" y="4684902"/>
            <a:ext cx="356913" cy="356913"/>
          </a:xfrm>
          <a:custGeom>
            <a:avLst/>
            <a:gdLst/>
            <a:ahLst/>
            <a:cxnLst/>
            <a:rect l="l" t="t" r="r" b="b"/>
            <a:pathLst>
              <a:path w="356913" h="356913">
                <a:moveTo>
                  <a:pt x="0" y="0"/>
                </a:moveTo>
                <a:lnTo>
                  <a:pt x="356914" y="0"/>
                </a:lnTo>
                <a:lnTo>
                  <a:pt x="356914" y="356913"/>
                </a:lnTo>
                <a:lnTo>
                  <a:pt x="0" y="356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2638917" y="6904227"/>
            <a:ext cx="356913" cy="356913"/>
          </a:xfrm>
          <a:custGeom>
            <a:avLst/>
            <a:gdLst/>
            <a:ahLst/>
            <a:cxnLst/>
            <a:rect l="l" t="t" r="r" b="b"/>
            <a:pathLst>
              <a:path w="356913" h="356913">
                <a:moveTo>
                  <a:pt x="0" y="0"/>
                </a:moveTo>
                <a:lnTo>
                  <a:pt x="356914" y="0"/>
                </a:lnTo>
                <a:lnTo>
                  <a:pt x="356914" y="356913"/>
                </a:lnTo>
                <a:lnTo>
                  <a:pt x="0" y="356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3248976" y="2773173"/>
            <a:ext cx="303933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Not a sale by description: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48976" y="4684902"/>
            <a:ext cx="303933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Termination unjustified: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48976" y="3601071"/>
            <a:ext cx="364901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the contract itself separates Product from Quality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48976" y="5513577"/>
            <a:ext cx="323299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Proton recovers damages, less Orlen’s quality losses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48976" y="6894702"/>
            <a:ext cx="323299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s.13 protects against different, not against worse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6875" y="3747364"/>
            <a:ext cx="5222410" cy="192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Worse is not Different</a:t>
            </a:r>
          </a:p>
        </p:txBody>
      </p:sp>
      <p:sp>
        <p:nvSpPr>
          <p:cNvPr id="17" name="Freeform 17"/>
          <p:cNvSpPr/>
          <p:nvPr/>
        </p:nvSpPr>
        <p:spPr>
          <a:xfrm flipH="1">
            <a:off x="15073481" y="7628127"/>
            <a:ext cx="4484760" cy="5259313"/>
          </a:xfrm>
          <a:custGeom>
            <a:avLst/>
            <a:gdLst/>
            <a:ahLst/>
            <a:cxnLst/>
            <a:rect l="l" t="t" r="r" b="b"/>
            <a:pathLst>
              <a:path w="4484760" h="5259313">
                <a:moveTo>
                  <a:pt x="4484760" y="0"/>
                </a:moveTo>
                <a:lnTo>
                  <a:pt x="0" y="0"/>
                </a:lnTo>
                <a:lnTo>
                  <a:pt x="0" y="5259313"/>
                </a:lnTo>
                <a:lnTo>
                  <a:pt x="4484760" y="5259313"/>
                </a:lnTo>
                <a:lnTo>
                  <a:pt x="44847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-1454372" y="-2818756"/>
            <a:ext cx="4484760" cy="5259313"/>
          </a:xfrm>
          <a:custGeom>
            <a:avLst/>
            <a:gdLst/>
            <a:ahLst/>
            <a:cxnLst/>
            <a:rect l="l" t="t" r="r" b="b"/>
            <a:pathLst>
              <a:path w="4484760" h="5259313">
                <a:moveTo>
                  <a:pt x="0" y="0"/>
                </a:moveTo>
                <a:lnTo>
                  <a:pt x="4484760" y="0"/>
                </a:lnTo>
                <a:lnTo>
                  <a:pt x="4484760" y="5259313"/>
                </a:lnTo>
                <a:lnTo>
                  <a:pt x="0" y="5259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6507525" y="527587"/>
            <a:ext cx="3086100" cy="848431"/>
            <a:chOff x="0" y="0"/>
            <a:chExt cx="812800" cy="22345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223455"/>
            </a:xfrm>
            <a:custGeom>
              <a:avLst/>
              <a:gdLst/>
              <a:ahLst/>
              <a:cxnLst/>
              <a:rect l="l" t="t" r="r" b="b"/>
              <a:pathLst>
                <a:path w="812800" h="223455">
                  <a:moveTo>
                    <a:pt x="111728" y="0"/>
                  </a:moveTo>
                  <a:lnTo>
                    <a:pt x="701072" y="0"/>
                  </a:lnTo>
                  <a:cubicBezTo>
                    <a:pt x="762778" y="0"/>
                    <a:pt x="812800" y="50022"/>
                    <a:pt x="812800" y="111728"/>
                  </a:cubicBezTo>
                  <a:lnTo>
                    <a:pt x="812800" y="111728"/>
                  </a:lnTo>
                  <a:cubicBezTo>
                    <a:pt x="812800" y="141360"/>
                    <a:pt x="801029" y="169778"/>
                    <a:pt x="780076" y="190731"/>
                  </a:cubicBezTo>
                  <a:cubicBezTo>
                    <a:pt x="759123" y="211684"/>
                    <a:pt x="730704" y="223455"/>
                    <a:pt x="701072" y="223455"/>
                  </a:cubicBezTo>
                  <a:lnTo>
                    <a:pt x="111728" y="223455"/>
                  </a:lnTo>
                  <a:cubicBezTo>
                    <a:pt x="50022" y="223455"/>
                    <a:pt x="0" y="173433"/>
                    <a:pt x="0" y="111728"/>
                  </a:cubicBezTo>
                  <a:lnTo>
                    <a:pt x="0" y="111728"/>
                  </a:lnTo>
                  <a:cubicBezTo>
                    <a:pt x="0" y="50022"/>
                    <a:pt x="50022" y="0"/>
                    <a:pt x="111728" y="0"/>
                  </a:cubicBezTo>
                  <a:close/>
                </a:path>
              </a:pathLst>
            </a:custGeom>
            <a:solidFill>
              <a:srgbClr val="785D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812800" cy="232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6775206" y="709755"/>
            <a:ext cx="484094" cy="484094"/>
          </a:xfrm>
          <a:custGeom>
            <a:avLst/>
            <a:gdLst/>
            <a:ahLst/>
            <a:cxnLst/>
            <a:rect l="l" t="t" r="r" b="b"/>
            <a:pathLst>
              <a:path w="484094" h="484094">
                <a:moveTo>
                  <a:pt x="0" y="0"/>
                </a:moveTo>
                <a:lnTo>
                  <a:pt x="484094" y="0"/>
                </a:lnTo>
                <a:lnTo>
                  <a:pt x="484094" y="484095"/>
                </a:lnTo>
                <a:lnTo>
                  <a:pt x="0" y="4840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028700" y="8983306"/>
            <a:ext cx="1662055" cy="274994"/>
          </a:xfrm>
          <a:custGeom>
            <a:avLst/>
            <a:gdLst/>
            <a:ahLst/>
            <a:cxnLst/>
            <a:rect l="l" t="t" r="r" b="b"/>
            <a:pathLst>
              <a:path w="1662055" h="274994">
                <a:moveTo>
                  <a:pt x="0" y="0"/>
                </a:moveTo>
                <a:lnTo>
                  <a:pt x="1662055" y="0"/>
                </a:lnTo>
                <a:lnTo>
                  <a:pt x="1662055" y="274994"/>
                </a:lnTo>
                <a:lnTo>
                  <a:pt x="0" y="2749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7864084" cy="8229600"/>
            <a:chOff x="0" y="0"/>
            <a:chExt cx="1332743" cy="13946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2743" cy="1394687"/>
            </a:xfrm>
            <a:custGeom>
              <a:avLst/>
              <a:gdLst/>
              <a:ahLst/>
              <a:cxnLst/>
              <a:rect l="l" t="t" r="r" b="b"/>
              <a:pathLst>
                <a:path w="1332743" h="1394687">
                  <a:moveTo>
                    <a:pt x="43316" y="0"/>
                  </a:moveTo>
                  <a:lnTo>
                    <a:pt x="1289426" y="0"/>
                  </a:lnTo>
                  <a:cubicBezTo>
                    <a:pt x="1300914" y="0"/>
                    <a:pt x="1311932" y="4564"/>
                    <a:pt x="1320056" y="12687"/>
                  </a:cubicBezTo>
                  <a:cubicBezTo>
                    <a:pt x="1328179" y="20811"/>
                    <a:pt x="1332743" y="31828"/>
                    <a:pt x="1332743" y="43316"/>
                  </a:cubicBezTo>
                  <a:lnTo>
                    <a:pt x="1332743" y="1351371"/>
                  </a:lnTo>
                  <a:cubicBezTo>
                    <a:pt x="1332743" y="1362859"/>
                    <a:pt x="1328179" y="1373877"/>
                    <a:pt x="1320056" y="1382000"/>
                  </a:cubicBezTo>
                  <a:cubicBezTo>
                    <a:pt x="1311932" y="1390124"/>
                    <a:pt x="1300914" y="1394687"/>
                    <a:pt x="1289426" y="1394687"/>
                  </a:cubicBezTo>
                  <a:lnTo>
                    <a:pt x="43316" y="1394687"/>
                  </a:lnTo>
                  <a:cubicBezTo>
                    <a:pt x="31828" y="1394687"/>
                    <a:pt x="20811" y="1390124"/>
                    <a:pt x="12687" y="1382000"/>
                  </a:cubicBezTo>
                  <a:cubicBezTo>
                    <a:pt x="4564" y="1373877"/>
                    <a:pt x="0" y="1362859"/>
                    <a:pt x="0" y="1351371"/>
                  </a:cubicBezTo>
                  <a:lnTo>
                    <a:pt x="0" y="43316"/>
                  </a:lnTo>
                  <a:cubicBezTo>
                    <a:pt x="0" y="31828"/>
                    <a:pt x="4564" y="20811"/>
                    <a:pt x="12687" y="12687"/>
                  </a:cubicBezTo>
                  <a:cubicBezTo>
                    <a:pt x="20811" y="4564"/>
                    <a:pt x="31828" y="0"/>
                    <a:pt x="43316" y="0"/>
                  </a:cubicBezTo>
                  <a:close/>
                </a:path>
              </a:pathLst>
            </a:custGeom>
            <a:blipFill>
              <a:blip r:embed="rId2"/>
              <a:stretch>
                <a:fillRect l="-28535" r="-28535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910741" y="-71373"/>
            <a:ext cx="8377259" cy="10358373"/>
            <a:chOff x="0" y="0"/>
            <a:chExt cx="2206356" cy="27281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6356" cy="2728131"/>
            </a:xfrm>
            <a:custGeom>
              <a:avLst/>
              <a:gdLst/>
              <a:ahLst/>
              <a:cxnLst/>
              <a:rect l="l" t="t" r="r" b="b"/>
              <a:pathLst>
                <a:path w="2206356" h="2728131">
                  <a:moveTo>
                    <a:pt x="0" y="0"/>
                  </a:moveTo>
                  <a:lnTo>
                    <a:pt x="2206356" y="0"/>
                  </a:lnTo>
                  <a:lnTo>
                    <a:pt x="2206356" y="2728131"/>
                  </a:lnTo>
                  <a:lnTo>
                    <a:pt x="0" y="2728131"/>
                  </a:lnTo>
                  <a:close/>
                </a:path>
              </a:pathLst>
            </a:custGeom>
            <a:solidFill>
              <a:srgbClr val="E5E7D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206356" cy="2775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738240" y="1320061"/>
            <a:ext cx="5265184" cy="192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What to Take Away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738240" y="7636321"/>
            <a:ext cx="4461564" cy="1621979"/>
            <a:chOff x="0" y="0"/>
            <a:chExt cx="5948752" cy="2162638"/>
          </a:xfrm>
        </p:grpSpPr>
        <p:sp>
          <p:nvSpPr>
            <p:cNvPr id="9" name="TextBox 9"/>
            <p:cNvSpPr txBox="1"/>
            <p:nvPr/>
          </p:nvSpPr>
          <p:spPr>
            <a:xfrm>
              <a:off x="0" y="758624"/>
              <a:ext cx="3529375" cy="544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5"/>
                </a:lnSpc>
                <a:spcBef>
                  <a:spcPct val="0"/>
                </a:spcBef>
              </a:pPr>
              <a:r>
                <a:rPr lang="en-US" sz="2396" b="1" u="none" strike="noStrike">
                  <a:solidFill>
                    <a:srgbClr val="0B0A0A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ss. 15 &amp; 16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328868" cy="544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5"/>
                </a:lnSpc>
                <a:spcBef>
                  <a:spcPct val="0"/>
                </a:spcBef>
              </a:pPr>
              <a:r>
                <a:rPr lang="en-US" sz="2396" b="1" u="none" strike="noStrike">
                  <a:solidFill>
                    <a:srgbClr val="0B0A0A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SOGA 1930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37" y="1618324"/>
              <a:ext cx="5911416" cy="544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5"/>
                </a:lnSpc>
                <a:spcBef>
                  <a:spcPct val="0"/>
                </a:spcBef>
              </a:pPr>
              <a:r>
                <a:rPr lang="en-US" sz="2396" b="1" u="none" strike="noStrike">
                  <a:solidFill>
                    <a:srgbClr val="0B0A0A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Same rule in India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738240" y="3646636"/>
            <a:ext cx="5568148" cy="1470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029" lvl="1" indent="-226514" algn="l">
              <a:lnSpc>
                <a:spcPts val="2937"/>
              </a:lnSpc>
              <a:buFont typeface="Arial"/>
              <a:buChar char="•"/>
            </a:pPr>
            <a:r>
              <a:rPr lang="en-US" sz="2098" spc="-41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Condition or warranty decides the remedy, not the severity of the breach.</a:t>
            </a:r>
          </a:p>
          <a:p>
            <a:pPr marL="453029" lvl="1" indent="-226514" algn="l">
              <a:lnSpc>
                <a:spcPts val="2937"/>
              </a:lnSpc>
              <a:buFont typeface="Arial"/>
              <a:buChar char="•"/>
            </a:pPr>
            <a:r>
              <a:rPr lang="en-US" sz="2098" spc="-41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Description is identity; quality is how good it is. Headings are not decoration: make a deal-critical number an express condition.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14671014" y="-4181447"/>
            <a:ext cx="5652311" cy="6628510"/>
          </a:xfrm>
          <a:custGeom>
            <a:avLst/>
            <a:gdLst/>
            <a:ahLst/>
            <a:cxnLst/>
            <a:rect l="l" t="t" r="r" b="b"/>
            <a:pathLst>
              <a:path w="5652311" h="6628510">
                <a:moveTo>
                  <a:pt x="5652311" y="0"/>
                </a:moveTo>
                <a:lnTo>
                  <a:pt x="0" y="0"/>
                </a:lnTo>
                <a:lnTo>
                  <a:pt x="0" y="6628510"/>
                </a:lnTo>
                <a:lnTo>
                  <a:pt x="5652311" y="6628510"/>
                </a:lnTo>
                <a:lnTo>
                  <a:pt x="565231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373</Words>
  <Application>Microsoft Macintosh PowerPoint</Application>
  <PresentationFormat>Custom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TT Firs Neue Bold</vt:lpstr>
      <vt:lpstr>Arial</vt:lpstr>
      <vt:lpstr>Poppins Medium</vt:lpstr>
      <vt:lpstr>Calibri</vt:lpstr>
      <vt:lpstr>Heading Now 71-78</vt:lpstr>
      <vt:lpstr>TT Firs Neue</vt:lpstr>
      <vt:lpstr>Heading Now 71-78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Gold Simple Legal Investor Pitch Deck Presentation</dc:title>
  <cp:lastModifiedBy>Aman Kumar</cp:lastModifiedBy>
  <cp:revision>3</cp:revision>
  <dcterms:created xsi:type="dcterms:W3CDTF">2006-08-16T00:00:00Z</dcterms:created>
  <dcterms:modified xsi:type="dcterms:W3CDTF">2026-08-20T02:50:42Z</dcterms:modified>
  <dc:identifier>DAHSwDBKNNE</dc:identifier>
</cp:coreProperties>
</file>